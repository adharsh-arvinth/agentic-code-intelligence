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1" r:id="rId10"/>
    <p:sldId id="272" r:id="rId11"/>
    <p:sldId id="273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dharsh-Arvinth/agentic-code-intelligence.gi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JQQXUEOY81HSYag60_mDM9-FCE1qdSzh/view?usp=sharing" TargetMode="External"/><Relationship Id="rId2" Type="http://schemas.openxmlformats.org/officeDocument/2006/relationships/hyperlink" Target="https://github.com/Adharsh-Arvinth/agentic-code-intelligence.git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65760"/>
          </a:xfrm>
          <a:prstGeom prst="round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A0DAD"/>
                </a:solidFill>
              </a:defRPr>
            </a:pPr>
            <a:r>
              <a:t>SAMSUNG PRISM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1E2D"/>
                </a:solidFill>
                <a:latin typeface="Segoe UI"/>
              </a:defRPr>
            </a:pPr>
            <a:r>
              <a:t>Generative AI</a:t>
            </a:r>
            <a:br/>
            <a:r>
              <a:t>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A0DAD"/>
                </a:solidFill>
              </a:defRPr>
            </a:pPr>
            <a:r>
              <a:t>3rd Edition  2026 –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1E2D"/>
                </a:solidFill>
              </a:defRPr>
            </a:pPr>
            <a:r>
              <a:rPr lang="en-US" sz="1600" dirty="0">
                <a:solidFill>
                  <a:srgbClr val="1E1E2D"/>
                </a:solidFill>
              </a:rPr>
              <a:t>Theme ID - 1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1E1E2D"/>
                </a:solidFill>
              </a:rPr>
              <a:t>• Team Name – unsorted bits</a:t>
            </a:r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1E1E2D"/>
                </a:solidFill>
              </a:rPr>
              <a:t>• College Name – Vellore Institute of technology</a:t>
            </a:r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1E1E2D"/>
                </a:solidFill>
              </a:rPr>
              <a:t>• Member Name &amp; Email 1 – Adharsh Arvinth &amp; adharsharvinth2108@gmail.com</a:t>
            </a:r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1E1E2D"/>
                </a:solidFill>
              </a:rPr>
              <a:t>• Member Name &amp; Email 2 – Rahul J &amp; jrahulnaidu@gmail.com</a:t>
            </a:r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1E1E2D"/>
                </a:solidFill>
              </a:rPr>
              <a:t>• Member Name &amp; Email 3 – Sivamiruthula &amp; sivamiruthula3@gmail.com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E1E2D"/>
                </a:solidFill>
              </a:rPr>
              <a:t>• Submission Github link – </a:t>
            </a:r>
            <a:r>
              <a:rPr sz="1600" u="sng">
                <a:solidFill>
                  <a:srgbClr val="0563C1"/>
                </a:solidFill>
                <a:hlinkClick r:id="rId2"/>
              </a:rPr>
              <a:t>https://github.com/Adharsh-Arvinth/agentic-code-intelligence.git</a:t>
            </a:r>
            <a:endParaRPr lang="en-US" sz="1600" dirty="0">
              <a:solidFill>
                <a:srgbClr val="1E1E2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98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1E2D"/>
                </a:solidFill>
              </a:defRPr>
            </a:pPr>
            <a:r>
              <a:rPr sz="3200" b="1" dirty="0">
                <a:solidFill>
                  <a:srgbClr val="6A0DAD"/>
                </a:solidFill>
              </a:rPr>
              <a:t>Theme: Agentic Code Intelligence &amp; Execution-Guided Cross-Modal Code Retrieval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1E1E2D"/>
                </a:solidFill>
              </a:rPr>
              <a:t>• Challenge Goal: Given natural-language algorithmic problem descriptions (3,765 test queries), retrieve and rank the exact Python code solutions from a corpus of 8,765 competitive programming snippets.</a:t>
            </a: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0D7A3E"/>
                </a:solidFill>
              </a:rPr>
              <a:t>• Official MTEB </a:t>
            </a:r>
            <a:r>
              <a:rPr sz="2000" b="1" dirty="0" err="1">
                <a:solidFill>
                  <a:srgbClr val="0D7A3E"/>
                </a:solidFill>
              </a:rPr>
              <a:t>AppsRetrieval</a:t>
            </a:r>
            <a:r>
              <a:rPr sz="2000" b="1" dirty="0">
                <a:solidFill>
                  <a:srgbClr val="0D7A3E"/>
                </a:solidFill>
              </a:rPr>
              <a:t> Achievement: Improved official test NDCG@10 from 0.05142 (5.14%) to 0.25591 (25.59%) (+397.7% / 4.98x improvement), MRR@10 to 0.25233 (+497.4%), and Top-1 Accuracy (NDCG@1) to 0.24595 (+659.1%).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1E1E2D"/>
                </a:solidFill>
              </a:rPr>
              <a:t>• System Architecture: Multi-stage CPU-optimized pipeline combining Smart I/O Query Windowing, Structured Code Representations (A–E), Closed-Form Ridge Cross-Modal Alignment, Sparse CSR BM25, and AST-Guarded Agentic Execution Verification.</a:t>
            </a:r>
          </a:p>
          <a:p>
            <a:pPr>
              <a:spcAft>
                <a:spcPts val="600"/>
              </a:spcAft>
            </a:pPr>
            <a:r>
              <a:rPr sz="2000" b="0" dirty="0">
                <a:solidFill>
                  <a:srgbClr val="1E1E2D"/>
                </a:solidFill>
              </a:rPr>
              <a:t>• Enterprise Readiness: Version-aware index management, 51,234-vector persistent disk cache, full MTEB 2.x </a:t>
            </a:r>
            <a:r>
              <a:rPr sz="2000" b="0" dirty="0" err="1">
                <a:solidFill>
                  <a:srgbClr val="1E1E2D"/>
                </a:solidFill>
              </a:rPr>
              <a:t>EncoderProtocol</a:t>
            </a:r>
            <a:r>
              <a:rPr sz="2000" b="0" dirty="0">
                <a:solidFill>
                  <a:srgbClr val="1E1E2D"/>
                </a:solidFill>
              </a:rPr>
              <a:t> + </a:t>
            </a:r>
            <a:r>
              <a:rPr sz="2000" b="0" dirty="0" err="1">
                <a:solidFill>
                  <a:srgbClr val="1E1E2D"/>
                </a:solidFill>
              </a:rPr>
              <a:t>SearchProtocol</a:t>
            </a:r>
            <a:r>
              <a:rPr sz="2000" b="0" dirty="0">
                <a:solidFill>
                  <a:srgbClr val="1E1E2D"/>
                </a:solidFill>
              </a:rPr>
              <a:t> compliance, and 42/42 automated unit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Existing Solutions &amp;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6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6A0DAD"/>
                </a:solidFill>
              </a:defRPr>
            </a:pPr>
            <a:r>
              <a:rPr sz="2400" b="1" dirty="0">
                <a:solidFill>
                  <a:srgbClr val="6A0DAD"/>
                </a:solidFill>
              </a:rPr>
              <a:t>1. Severe Text-to-Code Modality Gap (Why Raw Bi-Encoders Score 0.05142 NDCG@10)</a:t>
            </a:r>
          </a:p>
          <a:p>
            <a:pPr>
              <a:spcAft>
                <a:spcPts val="800"/>
              </a:spcAft>
            </a:pPr>
            <a:r>
              <a:rPr b="0" dirty="0" err="1">
                <a:solidFill>
                  <a:srgbClr val="505060"/>
                </a:solidFill>
              </a:rPr>
              <a:t>AppsRetrieval</a:t>
            </a:r>
            <a:r>
              <a:rPr b="0" dirty="0">
                <a:solidFill>
                  <a:srgbClr val="505060"/>
                </a:solidFill>
              </a:rPr>
              <a:t> queries are 1,600-character competitive programming narratives, whereas corpus documents (d0–d8764) are raw Python scripts using </a:t>
            </a:r>
            <a:r>
              <a:rPr b="0" dirty="0" err="1">
                <a:solidFill>
                  <a:srgbClr val="505060"/>
                </a:solidFill>
              </a:rPr>
              <a:t>sys.stdin</a:t>
            </a:r>
            <a:r>
              <a:rPr b="0" dirty="0">
                <a:solidFill>
                  <a:srgbClr val="505060"/>
                </a:solidFill>
              </a:rPr>
              <a:t> and single-letter variables (n, m, </a:t>
            </a:r>
            <a:r>
              <a:rPr b="0" dirty="0" err="1">
                <a:solidFill>
                  <a:srgbClr val="505060"/>
                </a:solidFill>
              </a:rPr>
              <a:t>dp</a:t>
            </a:r>
            <a:r>
              <a:rPr b="0" dirty="0">
                <a:solidFill>
                  <a:srgbClr val="505060"/>
                </a:solidFill>
              </a:rPr>
              <a:t>) with zero docstrings.</a:t>
            </a:r>
          </a:p>
          <a:p>
            <a:pPr>
              <a:spcAft>
                <a:spcPts val="200"/>
              </a:spcAft>
            </a:pPr>
            <a:r>
              <a:rPr sz="2400" b="1" dirty="0">
                <a:solidFill>
                  <a:srgbClr val="6A0DAD"/>
                </a:solidFill>
              </a:rPr>
              <a:t>2. Token Window Truncation &amp; Competitive Programming Template Boilerplate</a:t>
            </a:r>
          </a:p>
          <a:p>
            <a:pPr>
              <a:spcAft>
                <a:spcPts val="800"/>
              </a:spcAft>
            </a:pPr>
            <a:r>
              <a:rPr b="0" dirty="0">
                <a:solidFill>
                  <a:srgbClr val="505060"/>
                </a:solidFill>
              </a:rPr>
              <a:t>Naive 256-token truncation cuts off trailing -----Input----- and -----Output----- specifications in queries, while 30-line CP boilerplate headers (</a:t>
            </a:r>
            <a:r>
              <a:rPr b="0" dirty="0" err="1">
                <a:solidFill>
                  <a:srgbClr val="505060"/>
                </a:solidFill>
              </a:rPr>
              <a:t>setrecursionlimit</a:t>
            </a:r>
            <a:r>
              <a:rPr b="0" dirty="0">
                <a:solidFill>
                  <a:srgbClr val="505060"/>
                </a:solidFill>
              </a:rPr>
              <a:t>, MOD, </a:t>
            </a:r>
            <a:r>
              <a:rPr b="0" dirty="0" err="1">
                <a:solidFill>
                  <a:srgbClr val="505060"/>
                </a:solidFill>
              </a:rPr>
              <a:t>fast_io</a:t>
            </a:r>
            <a:r>
              <a:rPr b="0" dirty="0">
                <a:solidFill>
                  <a:srgbClr val="505060"/>
                </a:solidFill>
              </a:rPr>
              <a:t>) push core code logic out of the window.</a:t>
            </a:r>
          </a:p>
          <a:p>
            <a:pPr>
              <a:spcAft>
                <a:spcPts val="200"/>
              </a:spcAft>
            </a:pPr>
            <a:r>
              <a:rPr sz="2400" b="1" dirty="0">
                <a:solidFill>
                  <a:srgbClr val="6A0DAD"/>
                </a:solidFill>
              </a:rPr>
              <a:t>3. Lack of Functional I/O Verification in Static Vector/Lexical Search</a:t>
            </a:r>
          </a:p>
          <a:p>
            <a:pPr>
              <a:spcAft>
                <a:spcPts val="800"/>
              </a:spcAft>
            </a:pPr>
            <a:r>
              <a:rPr b="0" dirty="0">
                <a:solidFill>
                  <a:srgbClr val="505060"/>
                </a:solidFill>
              </a:rPr>
              <a:t>Static cosine similarity cannot distinguish between 50 structurally identical DP loops (for </a:t>
            </a:r>
            <a:r>
              <a:rPr b="0" dirty="0" err="1">
                <a:solidFill>
                  <a:srgbClr val="505060"/>
                </a:solidFill>
              </a:rPr>
              <a:t>i</a:t>
            </a:r>
            <a:r>
              <a:rPr b="0" dirty="0">
                <a:solidFill>
                  <a:srgbClr val="505060"/>
                </a:solidFill>
              </a:rPr>
              <a:t> in range(n): </a:t>
            </a:r>
            <a:r>
              <a:rPr b="0" dirty="0" err="1">
                <a:solidFill>
                  <a:srgbClr val="505060"/>
                </a:solidFill>
              </a:rPr>
              <a:t>dp</a:t>
            </a:r>
            <a:r>
              <a:rPr b="0" dirty="0">
                <a:solidFill>
                  <a:srgbClr val="505060"/>
                </a:solidFill>
              </a:rPr>
              <a:t>[</a:t>
            </a:r>
            <a:r>
              <a:rPr b="0" dirty="0" err="1">
                <a:solidFill>
                  <a:srgbClr val="505060"/>
                </a:solidFill>
              </a:rPr>
              <a:t>i</a:t>
            </a:r>
            <a:r>
              <a:rPr b="0" dirty="0">
                <a:solidFill>
                  <a:srgbClr val="505060"/>
                </a:solidFill>
              </a:rPr>
              <a:t>]=...) without executing candidate code against the query's sample Input/Output test cases.</a:t>
            </a:r>
          </a:p>
          <a:p>
            <a:pPr>
              <a:spcAft>
                <a:spcPts val="200"/>
              </a:spcAft>
            </a:pPr>
            <a:r>
              <a:rPr sz="2400" b="1" dirty="0">
                <a:solidFill>
                  <a:srgbClr val="6A0DAD"/>
                </a:solidFill>
              </a:rPr>
              <a:t>4. MTEB 2.x Protocol Dispatch &amp; Version-Aware Isolation Gaps</a:t>
            </a:r>
          </a:p>
          <a:p>
            <a:pPr>
              <a:spcAft>
                <a:spcPts val="400"/>
              </a:spcAft>
            </a:pPr>
            <a:r>
              <a:rPr b="0" dirty="0">
                <a:solidFill>
                  <a:srgbClr val="505060"/>
                </a:solidFill>
              </a:rPr>
              <a:t>MTEB 2.x wraps </a:t>
            </a:r>
            <a:r>
              <a:rPr b="0" dirty="0" err="1">
                <a:solidFill>
                  <a:srgbClr val="505060"/>
                </a:solidFill>
              </a:rPr>
              <a:t>EncoderProtocol</a:t>
            </a:r>
            <a:r>
              <a:rPr b="0" dirty="0">
                <a:solidFill>
                  <a:srgbClr val="505060"/>
                </a:solidFill>
              </a:rPr>
              <a:t> models via </a:t>
            </a:r>
            <a:r>
              <a:rPr b="0" dirty="0" err="1">
                <a:solidFill>
                  <a:srgbClr val="505060"/>
                </a:solidFill>
              </a:rPr>
              <a:t>prompt_type</a:t>
            </a:r>
            <a:r>
              <a:rPr b="0" dirty="0">
                <a:solidFill>
                  <a:srgbClr val="505060"/>
                </a:solidFill>
              </a:rPr>
              <a:t> dispatch unless </a:t>
            </a:r>
            <a:r>
              <a:rPr b="0" dirty="0" err="1">
                <a:solidFill>
                  <a:srgbClr val="505060"/>
                </a:solidFill>
              </a:rPr>
              <a:t>SearchProtocol</a:t>
            </a:r>
            <a:r>
              <a:rPr b="0" dirty="0">
                <a:solidFill>
                  <a:srgbClr val="505060"/>
                </a:solidFill>
              </a:rPr>
              <a:t> (index + search) is natively implemented, and standard vector stores lack version-tagged deduplication.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rPr dirty="0"/>
              <a:t>Our Solutions &amp; Architecture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22778D-A623-0147-F6BC-626F2EF0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05" y="1314266"/>
            <a:ext cx="10820447" cy="4691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rPr dirty="0"/>
              <a:t>Demo &amp; Product Walkthrough</a:t>
            </a:r>
            <a:r>
              <a:rPr lang="en-US" dirty="0"/>
              <a:t> – Query 1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6A41F0-CF81-07A8-2284-4AED3BAFA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15" y="1086175"/>
            <a:ext cx="10297391" cy="54704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D615A-7F41-B66C-0FBD-02EA9992F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7375A1-B7F1-FCD6-9E85-DB88110DF1B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3D5A8-6724-0A4D-FD99-5F82522C83BB}"/>
              </a:ext>
            </a:extLst>
          </p:cNvPr>
          <p:cNvSpPr txBox="1"/>
          <p:nvPr/>
        </p:nvSpPr>
        <p:spPr>
          <a:xfrm>
            <a:off x="731520" y="457200"/>
            <a:ext cx="10728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rPr dirty="0"/>
              <a:t>Demo &amp; Product Walkthrough</a:t>
            </a:r>
            <a:r>
              <a:rPr lang="en-US" dirty="0"/>
              <a:t>- Query 2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2C193-7962-341E-FB05-5F56ADD25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21" y="1039090"/>
            <a:ext cx="10594652" cy="562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67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DBA9D-21C3-C188-4F05-5D1C1552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595CFA-C726-B146-B0A8-33A771D0E45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B90759-E55A-595A-8A22-FED27C7F4D80}"/>
              </a:ext>
            </a:extLst>
          </p:cNvPr>
          <p:cNvSpPr txBox="1"/>
          <p:nvPr/>
        </p:nvSpPr>
        <p:spPr>
          <a:xfrm>
            <a:off x="731520" y="457200"/>
            <a:ext cx="10728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rPr dirty="0"/>
              <a:t>Demo &amp; Product Walkthrough</a:t>
            </a:r>
            <a:r>
              <a:rPr lang="en-US" dirty="0"/>
              <a:t>- </a:t>
            </a:r>
            <a:r>
              <a:rPr lang="en-US" sz="2800" b="1" dirty="0">
                <a:solidFill>
                  <a:srgbClr val="6A0DAD"/>
                </a:solidFill>
                <a:latin typeface="Segoe UI"/>
              </a:rPr>
              <a:t>Version-Aware Retrieval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624CAB-501F-5BC7-EFE8-EBB197C5E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67993"/>
            <a:ext cx="10728655" cy="523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45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4F517-CAC3-FBF4-F634-A86FC54EB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2416F9-C672-BE30-D32C-DCA37E55E8B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E1B31-F461-B89B-AB18-9E8DED575705}"/>
              </a:ext>
            </a:extLst>
          </p:cNvPr>
          <p:cNvSpPr txBox="1"/>
          <p:nvPr/>
        </p:nvSpPr>
        <p:spPr>
          <a:xfrm>
            <a:off x="731520" y="457200"/>
            <a:ext cx="10728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rPr dirty="0"/>
              <a:t>Demo &amp; Product Walkthrough</a:t>
            </a:r>
            <a:r>
              <a:rPr lang="en-US" dirty="0"/>
              <a:t>- </a:t>
            </a:r>
            <a:r>
              <a:rPr lang="en-US" sz="2800" b="1" dirty="0">
                <a:solidFill>
                  <a:srgbClr val="6A0DAD"/>
                </a:solidFill>
                <a:latin typeface="Segoe UI"/>
              </a:rPr>
              <a:t>Testing / Reliability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FB54B-DC65-FA55-29C5-BD66F6F13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91" y="1302733"/>
            <a:ext cx="10089122" cy="48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42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97093-005A-0486-85DC-DB1267E3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ED72D7-EB26-8B26-55EA-88C9CFF6DAFD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264B8-AD23-B0AB-8FA2-BBE4BD230CC0}"/>
              </a:ext>
            </a:extLst>
          </p:cNvPr>
          <p:cNvSpPr txBox="1"/>
          <p:nvPr/>
        </p:nvSpPr>
        <p:spPr>
          <a:xfrm>
            <a:off x="731520" y="457200"/>
            <a:ext cx="107286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rPr dirty="0"/>
              <a:t>Demo &amp; Product Walkthrough</a:t>
            </a:r>
            <a:r>
              <a:rPr lang="en-US" dirty="0"/>
              <a:t>- </a:t>
            </a:r>
            <a:r>
              <a:rPr lang="en-US" sz="2800" b="1" dirty="0">
                <a:solidFill>
                  <a:srgbClr val="6A0DAD"/>
                </a:solidFill>
                <a:latin typeface="Segoe UI"/>
              </a:rPr>
              <a:t>Ablation / Experimental Validation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830296-E7FD-0CAA-EDFE-D2902D518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0" y="2259228"/>
            <a:ext cx="9914479" cy="23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1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744E3-E8D7-9E3F-0411-A0B6EFF3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FF459D-A914-22BD-9BD7-CC8CF8564911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B2043-540E-481D-F0BD-5097516773E6}"/>
              </a:ext>
            </a:extLst>
          </p:cNvPr>
          <p:cNvSpPr txBox="1"/>
          <p:nvPr/>
        </p:nvSpPr>
        <p:spPr>
          <a:xfrm>
            <a:off x="731520" y="457200"/>
            <a:ext cx="10728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rPr dirty="0"/>
              <a:t>Demo &amp; Product Walkthrough</a:t>
            </a:r>
            <a:r>
              <a:rPr lang="en-US" dirty="0"/>
              <a:t>- </a:t>
            </a:r>
            <a:r>
              <a:rPr lang="en-US" sz="2800" b="1" dirty="0">
                <a:solidFill>
                  <a:srgbClr val="6A0DAD"/>
                </a:solidFill>
                <a:latin typeface="Segoe UI"/>
              </a:rPr>
              <a:t>Final Benchmark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E49AC-C6A0-3849-EB4D-49980BEF8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682"/>
            <a:ext cx="12192000" cy="453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6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372F-3564-F95F-9FDF-B397AC71A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2A3389-21D9-AE56-A651-8A4AB6727EA4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660BE4-8EF0-DF4E-4820-CBC92C74BDE0}"/>
              </a:ext>
            </a:extLst>
          </p:cNvPr>
          <p:cNvSpPr txBox="1"/>
          <p:nvPr/>
        </p:nvSpPr>
        <p:spPr>
          <a:xfrm>
            <a:off x="731520" y="457200"/>
            <a:ext cx="10728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rPr dirty="0"/>
              <a:t>Demo &amp; Product Walkthrough</a:t>
            </a:r>
            <a:r>
              <a:rPr lang="en-US" dirty="0"/>
              <a:t>- </a:t>
            </a:r>
            <a:r>
              <a:rPr lang="en-US" sz="2800" b="1" dirty="0">
                <a:solidFill>
                  <a:srgbClr val="6A0DAD"/>
                </a:solidFill>
                <a:latin typeface="Segoe UI"/>
              </a:rPr>
              <a:t>Benchmark Dataset Evidence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89958A-AB74-62B6-58AA-A8375D69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55" r="41559"/>
          <a:stretch>
            <a:fillRect/>
          </a:stretch>
        </p:blipFill>
        <p:spPr>
          <a:xfrm>
            <a:off x="0" y="1281545"/>
            <a:ext cx="5704304" cy="51192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C2635A-EA14-262C-8D9F-1A3B71A4FC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906"/>
          <a:stretch>
            <a:fillRect/>
          </a:stretch>
        </p:blipFill>
        <p:spPr>
          <a:xfrm>
            <a:off x="5800397" y="1281544"/>
            <a:ext cx="6295509" cy="511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81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Tools and tech stack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6A0DAD"/>
                </a:solidFill>
              </a:defRPr>
            </a:pPr>
            <a:r>
              <a:rPr sz="2200" b="1" dirty="0">
                <a:solidFill>
                  <a:srgbClr val="6A0DAD"/>
                </a:solidFill>
              </a:rPr>
              <a:t>• Core Engine &amp; Scientific Stack: Python 3.10+ / </a:t>
            </a:r>
            <a:r>
              <a:rPr sz="2200" b="1" dirty="0" err="1">
                <a:solidFill>
                  <a:srgbClr val="6A0DAD"/>
                </a:solidFill>
              </a:rPr>
              <a:t>PyTorch</a:t>
            </a:r>
            <a:r>
              <a:rPr sz="2200" b="1" dirty="0">
                <a:solidFill>
                  <a:srgbClr val="6A0DAD"/>
                </a:solidFill>
              </a:rPr>
              <a:t> / NumPy / SciPy (</a:t>
            </a:r>
            <a:r>
              <a:rPr sz="2200" b="1" dirty="0" err="1">
                <a:solidFill>
                  <a:srgbClr val="6A0DAD"/>
                </a:solidFill>
              </a:rPr>
              <a:t>csr_matrix</a:t>
            </a:r>
            <a:r>
              <a:rPr sz="2200" b="1" dirty="0">
                <a:solidFill>
                  <a:srgbClr val="6A0DAD"/>
                </a:solidFill>
              </a:rPr>
              <a:t> vectorized sparse BM25)</a:t>
            </a:r>
          </a:p>
          <a:p>
            <a:pPr>
              <a:spcAft>
                <a:spcPts val="600"/>
              </a:spcAft>
            </a:pPr>
            <a:r>
              <a:rPr sz="2200" b="1" dirty="0">
                <a:solidFill>
                  <a:srgbClr val="1E1E2D"/>
                </a:solidFill>
              </a:rPr>
              <a:t>• Dense Bi-Encoder &amp; Persistent Cache: BAAI/bge-small-en-v1.5 with Dual-View Code Indexing (78% Body + 22% Header) &amp; 51,234-embedding NPZ disk cache</a:t>
            </a:r>
          </a:p>
          <a:p>
            <a:pPr>
              <a:spcAft>
                <a:spcPts val="600"/>
              </a:spcAft>
            </a:pPr>
            <a:r>
              <a:rPr sz="2200" b="1" dirty="0">
                <a:solidFill>
                  <a:srgbClr val="6A0DAD"/>
                </a:solidFill>
              </a:rPr>
              <a:t>• Cross-Modal Alignment: Closed-Form Identity-Anchored Ridge Regression (</a:t>
            </a:r>
            <a:r>
              <a:rPr sz="2200" b="1" dirty="0" err="1">
                <a:solidFill>
                  <a:srgbClr val="6A0DAD"/>
                </a:solidFill>
              </a:rPr>
              <a:t>CrossModalAligner</a:t>
            </a:r>
            <a:r>
              <a:rPr sz="2200" b="1" dirty="0">
                <a:solidFill>
                  <a:srgbClr val="6A0DAD"/>
                </a:solidFill>
              </a:rPr>
              <a:t>, λ=150, α=0.22) trained strictly on train[0:2000] in 0.03s</a:t>
            </a:r>
          </a:p>
          <a:p>
            <a:pPr>
              <a:spcAft>
                <a:spcPts val="600"/>
              </a:spcAft>
            </a:pPr>
            <a:r>
              <a:rPr sz="2200" b="1" dirty="0">
                <a:solidFill>
                  <a:srgbClr val="1E1E2D"/>
                </a:solidFill>
              </a:rPr>
              <a:t>• Structured Code Preprocessing (Reps A–E): Python AST analyzer extracting algorithmic paradigms (DP, BFS/DFS, two-pointers), signatures, and stripping CP boilerplate</a:t>
            </a:r>
          </a:p>
          <a:p>
            <a:pPr>
              <a:spcAft>
                <a:spcPts val="600"/>
              </a:spcAft>
            </a:pPr>
            <a:r>
              <a:rPr sz="2200" b="1" dirty="0">
                <a:solidFill>
                  <a:srgbClr val="6A0DAD"/>
                </a:solidFill>
              </a:rPr>
              <a:t>• Agentic Execution Verifier: AST-instrumented bytecode compiler (_</a:t>
            </a:r>
            <a:r>
              <a:rPr sz="2200" b="1" dirty="0" err="1">
                <a:solidFill>
                  <a:srgbClr val="6A0DAD"/>
                </a:solidFill>
              </a:rPr>
              <a:t>LoopStepGuardTransformer</a:t>
            </a:r>
            <a:r>
              <a:rPr sz="2200" b="1" dirty="0">
                <a:solidFill>
                  <a:srgbClr val="6A0DAD"/>
                </a:solidFill>
              </a:rPr>
              <a:t>, _</a:t>
            </a:r>
            <a:r>
              <a:rPr sz="2200" b="1" dirty="0" err="1">
                <a:solidFill>
                  <a:srgbClr val="6A0DAD"/>
                </a:solidFill>
              </a:rPr>
              <a:t>BoundedRange</a:t>
            </a:r>
            <a:r>
              <a:rPr sz="2200" b="1" dirty="0">
                <a:solidFill>
                  <a:srgbClr val="6A0DAD"/>
                </a:solidFill>
              </a:rPr>
              <a:t>, _</a:t>
            </a:r>
            <a:r>
              <a:rPr sz="2200" b="1" dirty="0" err="1">
                <a:solidFill>
                  <a:srgbClr val="6A0DAD"/>
                </a:solidFill>
              </a:rPr>
              <a:t>SafeMath</a:t>
            </a:r>
            <a:r>
              <a:rPr sz="2200" b="1" dirty="0">
                <a:solidFill>
                  <a:srgbClr val="6A0DAD"/>
                </a:solidFill>
              </a:rPr>
              <a:t>, _</a:t>
            </a:r>
            <a:r>
              <a:rPr sz="2200" b="1" dirty="0" err="1">
                <a:solidFill>
                  <a:srgbClr val="6A0DAD"/>
                </a:solidFill>
              </a:rPr>
              <a:t>SafeRe</a:t>
            </a:r>
            <a:r>
              <a:rPr sz="2200" b="1" dirty="0">
                <a:solidFill>
                  <a:srgbClr val="6A0DAD"/>
                </a:solidFill>
              </a:rPr>
              <a:t>) verifying 7,648 corpus solutions in-memory</a:t>
            </a:r>
          </a:p>
          <a:p>
            <a:pPr>
              <a:spcAft>
                <a:spcPts val="400"/>
              </a:spcAft>
            </a:pPr>
            <a:r>
              <a:rPr sz="2200" b="1" dirty="0">
                <a:solidFill>
                  <a:srgbClr val="1E1E2D"/>
                </a:solidFill>
              </a:rPr>
              <a:t>• Official Evaluation &amp; Indexing: MTEB v2.21.8 (</a:t>
            </a:r>
            <a:r>
              <a:rPr sz="2200" b="1" dirty="0" err="1">
                <a:solidFill>
                  <a:srgbClr val="1E1E2D"/>
                </a:solidFill>
              </a:rPr>
              <a:t>EncoderProtocol</a:t>
            </a:r>
            <a:r>
              <a:rPr sz="2200" b="1" dirty="0">
                <a:solidFill>
                  <a:srgbClr val="1E1E2D"/>
                </a:solidFill>
              </a:rPr>
              <a:t> + </a:t>
            </a:r>
            <a:r>
              <a:rPr sz="2200" b="1" dirty="0" err="1">
                <a:solidFill>
                  <a:srgbClr val="1E1E2D"/>
                </a:solidFill>
              </a:rPr>
              <a:t>SearchProtocol</a:t>
            </a:r>
            <a:r>
              <a:rPr sz="2200" b="1" dirty="0">
                <a:solidFill>
                  <a:srgbClr val="1E1E2D"/>
                </a:solidFill>
              </a:rPr>
              <a:t> compliance), FAISS </a:t>
            </a:r>
            <a:r>
              <a:rPr sz="2200" b="1" dirty="0" err="1">
                <a:solidFill>
                  <a:srgbClr val="1E1E2D"/>
                </a:solidFill>
              </a:rPr>
              <a:t>IndexFlatIP</a:t>
            </a:r>
            <a:r>
              <a:rPr sz="2200" b="1" dirty="0">
                <a:solidFill>
                  <a:srgbClr val="1E1E2D"/>
                </a:solidFill>
              </a:rPr>
              <a:t>, and 42 </a:t>
            </a:r>
            <a:r>
              <a:rPr sz="2200" b="1" dirty="0" err="1">
                <a:solidFill>
                  <a:srgbClr val="1E1E2D"/>
                </a:solidFill>
              </a:rPr>
              <a:t>pytest</a:t>
            </a:r>
            <a:r>
              <a:rPr sz="2200" b="1" dirty="0">
                <a:solidFill>
                  <a:srgbClr val="1E1E2D"/>
                </a:solidFill>
              </a:rPr>
              <a:t> unit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Impact &amp;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1. Enterprise Developer Productivity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Enables natural-language search over multi-million-line proprietary codebases, reducing time spent searching for legacy functions.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2. AI Coding Assistants &amp; Agentic Retrieval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Provides low-latency context retrieval for agentic coding assistants (e.g. Copilot, Gemini) to fetch relevant code context.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3. Competitive Programming &amp; Education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Allows students and competitive programmers to query problem requirements and retrieve exact algorithmic implementations.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4. Edge &amp; CPU Infrastructure Efficiency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Lightweight design runs entirely on standard CPUs without requiring expensive GPU server infrastructure.</a:t>
            </a:r>
            <a:br>
              <a:rPr sz="2000" dirty="0"/>
            </a:br>
            <a:endParaRPr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Innovation highlights, results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672" y="1463040"/>
            <a:ext cx="10728655" cy="4826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A0DAD"/>
                </a:solidFill>
              </a:defRPr>
            </a:pPr>
            <a:r>
              <a:rPr sz="1650" b="1" dirty="0">
                <a:solidFill>
                  <a:srgbClr val="6A0DAD"/>
                </a:solidFill>
              </a:rPr>
              <a:t>Verified Official MTEB </a:t>
            </a:r>
            <a:r>
              <a:rPr sz="1650" b="1" dirty="0" err="1">
                <a:solidFill>
                  <a:srgbClr val="6A0DAD"/>
                </a:solidFill>
              </a:rPr>
              <a:t>AppsRetrieval</a:t>
            </a:r>
            <a:r>
              <a:rPr sz="1650" b="1" dirty="0">
                <a:solidFill>
                  <a:srgbClr val="6A0DAD"/>
                </a:solidFill>
              </a:rPr>
              <a:t> Benchmark Results &amp; Validation Ablation Study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1E1E2D"/>
                </a:solidFill>
                <a:latin typeface="Consolas"/>
              </a:rPr>
              <a:t>OFFICIAL MTEB APPSRETRIEVAL TEST SPLIT (3,765 Queries, 8,765 Corpus Docs, </a:t>
            </a:r>
            <a:r>
              <a:rPr sz="1050" b="1" dirty="0" err="1">
                <a:solidFill>
                  <a:srgbClr val="1E1E2D"/>
                </a:solidFill>
                <a:latin typeface="Consolas"/>
              </a:rPr>
              <a:t>mteb</a:t>
            </a:r>
            <a:r>
              <a:rPr sz="1050" b="1" dirty="0">
                <a:solidFill>
                  <a:srgbClr val="1E1E2D"/>
                </a:solidFill>
                <a:latin typeface="Consolas"/>
              </a:rPr>
              <a:t> v2.21.8):
</a:t>
            </a: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1E1E2D"/>
                </a:solidFill>
                <a:latin typeface="Consolas"/>
              </a:rPr>
              <a:t>
</a:t>
            </a: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en-US" sz="1050" b="1" dirty="0">
              <a:solidFill>
                <a:srgbClr val="1E1E2D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1E1E2D"/>
                </a:solidFill>
                <a:latin typeface="Consolas"/>
              </a:rPr>
              <a:t>HELD-OUT VALIDATION ABLATION (</a:t>
            </a:r>
            <a:r>
              <a:rPr sz="1050" b="1" dirty="0" err="1">
                <a:solidFill>
                  <a:srgbClr val="1E1E2D"/>
                </a:solidFill>
                <a:latin typeface="Consolas"/>
              </a:rPr>
              <a:t>val_dev</a:t>
            </a:r>
            <a:r>
              <a:rPr sz="1050" b="1" dirty="0">
                <a:solidFill>
                  <a:srgbClr val="1E1E2D"/>
                </a:solidFill>
                <a:latin typeface="Consolas"/>
              </a:rPr>
              <a:t> = 250 Queries from train[2000:]):
• 1_baseline_raw: 0.12937 NDCG@10  -&gt;  2_bge_query_instruction: 0.13647  -&gt;  3_doc_rep_D/E: 0.14191
• 5_hybrid_dense_bm25: 0.14145     -&gt;  6_full_agentic_execution_verified: 0.27920 NDCG@10 (0.316 Recall@10)</a:t>
            </a:r>
          </a:p>
          <a:p>
            <a:pPr>
              <a:spcAft>
                <a:spcPts val="200"/>
              </a:spcAft>
            </a:pPr>
            <a:r>
              <a:rPr sz="1250" b="0" dirty="0">
                <a:solidFill>
                  <a:srgbClr val="1E1E2D"/>
                </a:solidFill>
              </a:rPr>
              <a:t>• Key Innovations: (1) Smart Query I/O Preservation, (2) Boilerplate-Free Structured Code Rep E/D, (3) Closed-Form Ridge Cross-Modal Aligner, (4) Entropy-Weighted AST-Guarded Execution Verifier.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E376E2-E2AA-E143-B221-40E5CFB9F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72" y="2074325"/>
            <a:ext cx="10679762" cy="28717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rPr sz="2800"/>
              <a:t>What’s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A0DAD"/>
                </a:solidFill>
              </a:defRPr>
            </a:pPr>
            <a:r>
              <a:rPr sz="2200" dirty="0"/>
              <a:t>• AST-Level Graph Parsing (Tree-Sitter)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200" dirty="0"/>
              <a:t>  Integrate Abstract Syntax Tree (AST) parsing to index code structural graphs alongside text tokens.</a:t>
            </a:r>
            <a:br>
              <a:rPr sz="2200" dirty="0"/>
            </a:br>
            <a:endParaRPr sz="22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200" dirty="0"/>
              <a:t>• Multi-Language Expansion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200" dirty="0"/>
              <a:t>  Extend specialized preprocessors for C++, Java, Rust, Go, and TypeScript syntax.</a:t>
            </a:r>
            <a:br>
              <a:rPr sz="2200" dirty="0"/>
            </a:br>
            <a:endParaRPr sz="22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200" dirty="0"/>
              <a:t>• On-Device Embedding Quantization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200" dirty="0"/>
              <a:t>  Apply INT8 quantization to vector embeddings to reduce index memory footprint by 4x for mobile/local IDE deployment.</a:t>
            </a:r>
            <a:br>
              <a:rPr sz="2200" dirty="0"/>
            </a:br>
            <a:endParaRPr sz="22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200" dirty="0"/>
              <a:t>• IDE Plugins (</a:t>
            </a:r>
            <a:r>
              <a:rPr sz="2200" dirty="0" err="1"/>
              <a:t>VSCode</a:t>
            </a:r>
            <a:r>
              <a:rPr sz="2200" dirty="0"/>
              <a:t> &amp; JetBrains)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200" dirty="0"/>
              <a:t>  Package the retrieval engine into native IDE extensions for seamless developer workflows.</a:t>
            </a:r>
            <a:br>
              <a:rPr sz="2200" dirty="0"/>
            </a:br>
            <a:endParaRPr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rPr sz="3600"/>
              <a:t>Brownie points slide( differentiation)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6A0DAD"/>
                </a:solidFill>
              </a:defRPr>
            </a:pPr>
            <a:r>
              <a:rPr sz="2400" b="1" dirty="0">
                <a:solidFill>
                  <a:srgbClr val="6A0DAD"/>
                </a:solidFill>
              </a:rPr>
              <a:t>1. +397.7% (4.98x) Official MTEB Benchmark Leap (0.05142 -&gt; 0.25591 NDCG@10)</a:t>
            </a:r>
          </a:p>
          <a:p>
            <a:pPr>
              <a:spcAft>
                <a:spcPts val="800"/>
              </a:spcAft>
            </a:pPr>
            <a:r>
              <a:rPr b="0" dirty="0">
                <a:solidFill>
                  <a:srgbClr val="505060"/>
                </a:solidFill>
              </a:rPr>
              <a:t>Improves real MTEB </a:t>
            </a:r>
            <a:r>
              <a:rPr b="0" dirty="0" err="1">
                <a:solidFill>
                  <a:srgbClr val="505060"/>
                </a:solidFill>
              </a:rPr>
              <a:t>AppsRetrieval</a:t>
            </a:r>
            <a:r>
              <a:rPr b="0" dirty="0">
                <a:solidFill>
                  <a:srgbClr val="505060"/>
                </a:solidFill>
              </a:rPr>
              <a:t> test performance from 5.14% to 25.59% NDCG@10 (and 24.60% Top-1 accuracy) without relying on slow GPU-only 7B models.</a:t>
            </a:r>
          </a:p>
          <a:p>
            <a:pPr>
              <a:spcAft>
                <a:spcPts val="200"/>
              </a:spcAft>
            </a:pPr>
            <a:r>
              <a:rPr sz="2400" b="1" dirty="0">
                <a:solidFill>
                  <a:srgbClr val="6A0DAD"/>
                </a:solidFill>
              </a:rPr>
              <a:t>2. Sub-Millisecond AST-Guarded Agentic Execution Sandbox</a:t>
            </a:r>
          </a:p>
          <a:p>
            <a:pPr>
              <a:spcAft>
                <a:spcPts val="800"/>
              </a:spcAft>
            </a:pPr>
            <a:r>
              <a:rPr b="0" dirty="0">
                <a:solidFill>
                  <a:srgbClr val="505060"/>
                </a:solidFill>
              </a:rPr>
              <a:t>Pre-compiles 7,648/8,765 corpus Python solutions with AST step counters (_</a:t>
            </a:r>
            <a:r>
              <a:rPr b="0" dirty="0" err="1">
                <a:solidFill>
                  <a:srgbClr val="505060"/>
                </a:solidFill>
              </a:rPr>
              <a:t>BoundedRange</a:t>
            </a:r>
            <a:r>
              <a:rPr b="0" dirty="0">
                <a:solidFill>
                  <a:srgbClr val="505060"/>
                </a:solidFill>
              </a:rPr>
              <a:t>, _</a:t>
            </a:r>
            <a:r>
              <a:rPr b="0" dirty="0" err="1">
                <a:solidFill>
                  <a:srgbClr val="505060"/>
                </a:solidFill>
              </a:rPr>
              <a:t>SafeMath</a:t>
            </a:r>
            <a:r>
              <a:rPr b="0" dirty="0">
                <a:solidFill>
                  <a:srgbClr val="505060"/>
                </a:solidFill>
              </a:rPr>
              <a:t>, _</a:t>
            </a:r>
            <a:r>
              <a:rPr b="0" dirty="0" err="1">
                <a:solidFill>
                  <a:srgbClr val="505060"/>
                </a:solidFill>
              </a:rPr>
              <a:t>SafeRe</a:t>
            </a:r>
            <a:r>
              <a:rPr b="0" dirty="0">
                <a:solidFill>
                  <a:srgbClr val="505060"/>
                </a:solidFill>
              </a:rPr>
              <a:t>, _</a:t>
            </a:r>
            <a:r>
              <a:rPr b="0" dirty="0" err="1">
                <a:solidFill>
                  <a:srgbClr val="505060"/>
                </a:solidFill>
              </a:rPr>
              <a:t>MockStdin</a:t>
            </a:r>
            <a:r>
              <a:rPr b="0" dirty="0">
                <a:solidFill>
                  <a:srgbClr val="505060"/>
                </a:solidFill>
              </a:rPr>
              <a:t>/</a:t>
            </a:r>
            <a:r>
              <a:rPr b="0" dirty="0" err="1">
                <a:solidFill>
                  <a:srgbClr val="505060"/>
                </a:solidFill>
              </a:rPr>
              <a:t>Stdout</a:t>
            </a:r>
            <a:r>
              <a:rPr b="0" dirty="0">
                <a:solidFill>
                  <a:srgbClr val="505060"/>
                </a:solidFill>
              </a:rPr>
              <a:t>) to functionally verify sample I/O in microseconds.</a:t>
            </a:r>
          </a:p>
          <a:p>
            <a:pPr>
              <a:spcAft>
                <a:spcPts val="200"/>
              </a:spcAft>
            </a:pPr>
            <a:r>
              <a:rPr sz="2400" b="1" dirty="0">
                <a:solidFill>
                  <a:srgbClr val="6A0DAD"/>
                </a:solidFill>
              </a:rPr>
              <a:t>3. Closed-Form Cross-Modal Ridge Alignment &amp; Zero-GPU CPU Efficiency</a:t>
            </a:r>
          </a:p>
          <a:p>
            <a:pPr>
              <a:spcAft>
                <a:spcPts val="800"/>
              </a:spcAft>
            </a:pPr>
            <a:r>
              <a:rPr b="0" dirty="0">
                <a:solidFill>
                  <a:srgbClr val="505060"/>
                </a:solidFill>
              </a:rPr>
              <a:t>Aligns query-to-code embeddings in 0.03s using train[0:2000] and evaluates all 3,765 test queries in 125.3s on CPU backed by a 51,234-vector persistent cache.</a:t>
            </a:r>
          </a:p>
          <a:p>
            <a:pPr>
              <a:spcAft>
                <a:spcPts val="200"/>
              </a:spcAft>
            </a:pPr>
            <a:r>
              <a:rPr sz="2400" b="1" dirty="0">
                <a:solidFill>
                  <a:srgbClr val="6A0DAD"/>
                </a:solidFill>
              </a:rPr>
              <a:t>4. Native MTEB 2.x </a:t>
            </a:r>
            <a:r>
              <a:rPr sz="2400" b="1" dirty="0" err="1">
                <a:solidFill>
                  <a:srgbClr val="6A0DAD"/>
                </a:solidFill>
              </a:rPr>
              <a:t>SearchProtocol</a:t>
            </a:r>
            <a:r>
              <a:rPr sz="2400" b="1" dirty="0">
                <a:solidFill>
                  <a:srgbClr val="6A0DAD"/>
                </a:solidFill>
              </a:rPr>
              <a:t> + Version-Aware Indexing + 42/42 Unit Tests</a:t>
            </a:r>
          </a:p>
          <a:p>
            <a:pPr>
              <a:spcAft>
                <a:spcPts val="400"/>
              </a:spcAft>
            </a:pPr>
            <a:r>
              <a:rPr b="0" dirty="0">
                <a:solidFill>
                  <a:srgbClr val="505060"/>
                </a:solidFill>
              </a:rPr>
              <a:t>Implements both MTEB 2.x </a:t>
            </a:r>
            <a:r>
              <a:rPr b="0" dirty="0" err="1">
                <a:solidFill>
                  <a:srgbClr val="505060"/>
                </a:solidFill>
              </a:rPr>
              <a:t>EncoderProtocol</a:t>
            </a:r>
            <a:r>
              <a:rPr b="0" dirty="0">
                <a:solidFill>
                  <a:srgbClr val="505060"/>
                </a:solidFill>
              </a:rPr>
              <a:t> and </a:t>
            </a:r>
            <a:r>
              <a:rPr b="0" dirty="0" err="1">
                <a:solidFill>
                  <a:srgbClr val="505060"/>
                </a:solidFill>
              </a:rPr>
              <a:t>SearchProtocol</a:t>
            </a:r>
            <a:r>
              <a:rPr b="0" dirty="0">
                <a:solidFill>
                  <a:srgbClr val="505060"/>
                </a:solidFill>
              </a:rPr>
              <a:t>, supports multi-version index isolation, and passes 42/42 automated </a:t>
            </a:r>
            <a:r>
              <a:rPr b="0" dirty="0" err="1">
                <a:solidFill>
                  <a:srgbClr val="505060"/>
                </a:solidFill>
              </a:rPr>
              <a:t>pytest</a:t>
            </a:r>
            <a:r>
              <a:rPr b="0" dirty="0">
                <a:solidFill>
                  <a:srgbClr val="505060"/>
                </a:solidFill>
              </a:rPr>
              <a:t> unit tests (100%).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Checklist- Updated on Public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1E2D"/>
                </a:solidFill>
              </a:defRPr>
            </a:pPr>
            <a:r>
              <a:rPr b="1" dirty="0">
                <a:solidFill>
                  <a:srgbClr val="1E1E2D"/>
                </a:solidFill>
              </a:rPr>
              <a:t>• </a:t>
            </a:r>
            <a:r>
              <a:rPr sz="2800" b="1" dirty="0">
                <a:solidFill>
                  <a:srgbClr val="1E1E2D"/>
                </a:solidFill>
              </a:rPr>
              <a:t>Working prototype code — public or shared GitHub repo (Y/N): YES (</a:t>
            </a:r>
            <a:r>
              <a:rPr lang="en-US" sz="2800" b="1" u="sng" dirty="0">
                <a:solidFill>
                  <a:srgbClr val="1E1E2D"/>
                </a:solidFill>
                <a:hlinkClick r:id="rId2"/>
              </a:rPr>
              <a:t>https://github.com/Adharsh-Arvinth/agentic-code-intelligence.git</a:t>
            </a:r>
            <a:r>
              <a:rPr sz="2800" b="1" dirty="0">
                <a:solidFill>
                  <a:srgbClr val="1E1E2D"/>
                </a:solidFill>
              </a:rPr>
              <a:t>)</a:t>
            </a:r>
            <a:endParaRPr sz="2800" dirty="0"/>
          </a:p>
          <a:p>
            <a:pPr>
              <a:spcAft>
                <a:spcPts val="1000"/>
              </a:spcAft>
            </a:pPr>
            <a:r>
              <a:rPr sz="2800" b="1" dirty="0">
                <a:solidFill>
                  <a:srgbClr val="1E1E2D"/>
                </a:solidFill>
              </a:rPr>
              <a:t>• README with reproducible setup &amp; verified MTEB 0.25591 results (Y/N): YES (Includes full setup, CLI walkthrough, 9-stage ablation matrix &amp; results/</a:t>
            </a:r>
            <a:r>
              <a:rPr sz="2800" b="1" dirty="0" err="1">
                <a:solidFill>
                  <a:srgbClr val="1E1E2D"/>
                </a:solidFill>
              </a:rPr>
              <a:t>AppsRetrieval.json</a:t>
            </a:r>
            <a:r>
              <a:rPr sz="2800" b="1" dirty="0">
                <a:solidFill>
                  <a:srgbClr val="1E1E2D"/>
                </a:solidFill>
              </a:rPr>
              <a:t>)</a:t>
            </a:r>
          </a:p>
          <a:p>
            <a:pPr>
              <a:spcAft>
                <a:spcPts val="1000"/>
              </a:spcAft>
            </a:pPr>
            <a:r>
              <a:rPr sz="2800" b="1" dirty="0">
                <a:solidFill>
                  <a:srgbClr val="6A0DAD"/>
                </a:solidFill>
              </a:rPr>
              <a:t>• Demo video</a:t>
            </a:r>
            <a:r>
              <a:rPr lang="en-US" sz="2800" b="1" dirty="0">
                <a:solidFill>
                  <a:srgbClr val="6A0DAD"/>
                </a:solidFill>
              </a:rPr>
              <a:t>: </a:t>
            </a:r>
            <a:r>
              <a:rPr lang="en-US" sz="2800" b="1" dirty="0">
                <a:solidFill>
                  <a:srgbClr val="6A0DAD"/>
                </a:solidFill>
                <a:hlinkClick r:id="rId3"/>
              </a:rPr>
              <a:t>https://drive.google.com/file/d/1JQQXUEOY81HSYag60_mDM9-FCE1qdSzh/view?usp=sharing</a:t>
            </a:r>
            <a:endParaRPr lang="en-US" sz="2800" b="1" dirty="0">
              <a:solidFill>
                <a:srgbClr val="6A0DAD"/>
              </a:solidFill>
            </a:endParaRPr>
          </a:p>
          <a:p>
            <a:pPr>
              <a:spcAft>
                <a:spcPts val="1000"/>
              </a:spcAft>
            </a:pPr>
            <a:r>
              <a:rPr sz="2800" b="1" dirty="0">
                <a:solidFill>
                  <a:srgbClr val="1E1E2D"/>
                </a:solidFill>
              </a:rPr>
              <a:t>• Presentation file (PPT or PDF) &amp; AI Disclosure Form (Y/N): YES (Updated with final empirical metrics &amp; team details)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E1E2D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73"/>
                </a:solidFill>
              </a:defRPr>
            </a:pPr>
            <a:r>
              <a:t>Organised by the Language AI Team and the PRISM Team, Samsung R&amp;D Institute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1341</Words>
  <Application>Microsoft Office PowerPoint</Application>
  <PresentationFormat>Widescreen</PresentationFormat>
  <Paragraphs>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Adharsh Arvinth</cp:lastModifiedBy>
  <cp:revision>17</cp:revision>
  <dcterms:created xsi:type="dcterms:W3CDTF">2013-01-27T09:14:16Z</dcterms:created>
  <dcterms:modified xsi:type="dcterms:W3CDTF">2026-09-30T10:52:33Z</dcterms:modified>
  <cp:category/>
</cp:coreProperties>
</file>