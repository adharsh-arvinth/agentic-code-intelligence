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dharsh-Arvinth/agentic-code-intelligence.git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dharsh-Arvinth/agentic-code-intelligence.git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560320" cy="365760"/>
          </a:xfrm>
          <a:prstGeom prst="roundRect">
            <a:avLst/>
          </a:prstGeom>
          <a:solidFill>
            <a:srgbClr val="F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A0DAD"/>
                </a:solidFill>
              </a:defRPr>
            </a:pPr>
            <a:r>
              <a:t>SAMSUNG PRISM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E1E2D"/>
                </a:solidFill>
                <a:latin typeface="Segoe UI"/>
              </a:defRPr>
            </a:pPr>
            <a:r>
              <a:t>Generative AI</a:t>
            </a:r>
            <a:br/>
            <a:r>
              <a:t>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A0DAD"/>
                </a:solidFill>
              </a:defRPr>
            </a:pPr>
            <a:r>
              <a:t>3rd Edition  2026 –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515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1E2D"/>
                </a:solidFill>
              </a:defRPr>
            </a:pPr>
            <a:r>
              <a:rPr sz="2000" dirty="0"/>
              <a:t>• Theme ID - </a:t>
            </a:r>
            <a:r>
              <a:rPr lang="en-US" sz="2000" dirty="0"/>
              <a:t>1</a:t>
            </a:r>
            <a:endParaRPr sz="2000" dirty="0"/>
          </a:p>
          <a:p>
            <a:pPr>
              <a:defRPr sz="1300">
                <a:solidFill>
                  <a:srgbClr val="1E1E2D"/>
                </a:solidFill>
              </a:defRPr>
            </a:pPr>
            <a:r>
              <a:rPr sz="2000" dirty="0"/>
              <a:t>• Team Name </a:t>
            </a:r>
            <a:r>
              <a:rPr lang="en-US" sz="2000" dirty="0"/>
              <a:t>–</a:t>
            </a:r>
            <a:r>
              <a:rPr sz="2000" dirty="0"/>
              <a:t> </a:t>
            </a:r>
            <a:r>
              <a:rPr lang="en-US" sz="2000" dirty="0"/>
              <a:t>unsorted bits</a:t>
            </a:r>
            <a:endParaRPr sz="2000" dirty="0"/>
          </a:p>
          <a:p>
            <a:pPr>
              <a:defRPr sz="1300">
                <a:solidFill>
                  <a:srgbClr val="1E1E2D"/>
                </a:solidFill>
              </a:defRPr>
            </a:pPr>
            <a:r>
              <a:rPr sz="2000" dirty="0"/>
              <a:t>• College Name </a:t>
            </a:r>
            <a:r>
              <a:rPr lang="en-US" sz="2000" dirty="0"/>
              <a:t>–</a:t>
            </a:r>
            <a:r>
              <a:rPr sz="2000" dirty="0"/>
              <a:t> </a:t>
            </a:r>
            <a:r>
              <a:rPr lang="en-US" sz="2000" dirty="0"/>
              <a:t>Vellore Institute of technology</a:t>
            </a:r>
            <a:endParaRPr sz="2000" dirty="0"/>
          </a:p>
          <a:p>
            <a:pPr>
              <a:defRPr sz="1300">
                <a:solidFill>
                  <a:srgbClr val="1E1E2D"/>
                </a:solidFill>
              </a:defRPr>
            </a:pPr>
            <a:r>
              <a:rPr sz="2000" dirty="0"/>
              <a:t>• Member Name &amp; Email 1 </a:t>
            </a:r>
            <a:r>
              <a:rPr lang="en-US" sz="2000" dirty="0"/>
              <a:t>–</a:t>
            </a:r>
            <a:r>
              <a:rPr sz="2000" dirty="0"/>
              <a:t> </a:t>
            </a:r>
            <a:r>
              <a:rPr lang="en-US" sz="2000" dirty="0"/>
              <a:t>Adharsh Arvinth &amp; adharsharvinth2108@gmail.com</a:t>
            </a:r>
            <a:endParaRPr sz="2000" dirty="0"/>
          </a:p>
          <a:p>
            <a:pPr>
              <a:defRPr sz="1300">
                <a:solidFill>
                  <a:srgbClr val="1E1E2D"/>
                </a:solidFill>
              </a:defRPr>
            </a:pPr>
            <a:r>
              <a:rPr sz="2000" dirty="0"/>
              <a:t>• Member Name &amp; Email 2 </a:t>
            </a:r>
            <a:r>
              <a:rPr lang="en-US" sz="2000" dirty="0"/>
              <a:t>–</a:t>
            </a:r>
            <a:r>
              <a:rPr sz="2000" dirty="0"/>
              <a:t> </a:t>
            </a:r>
            <a:r>
              <a:rPr lang="en-US" sz="2000" dirty="0"/>
              <a:t>Rahul J &amp; jrahulnaidu@gmail.com</a:t>
            </a:r>
            <a:endParaRPr sz="2000" dirty="0"/>
          </a:p>
          <a:p>
            <a:pPr>
              <a:defRPr sz="1300">
                <a:solidFill>
                  <a:srgbClr val="1E1E2D"/>
                </a:solidFill>
              </a:defRPr>
            </a:pPr>
            <a:r>
              <a:rPr sz="2000" dirty="0"/>
              <a:t>• Member Name &amp; Email 3 </a:t>
            </a:r>
            <a:r>
              <a:rPr lang="en-US" sz="2000" dirty="0"/>
              <a:t>–</a:t>
            </a:r>
            <a:r>
              <a:rPr sz="2000" dirty="0"/>
              <a:t> </a:t>
            </a:r>
            <a:r>
              <a:rPr lang="en-US" sz="2000" dirty="0"/>
              <a:t>Sivamiruthula &amp; sivamiruthula3@gmail.com</a:t>
            </a:r>
            <a:endParaRPr sz="2000" dirty="0"/>
          </a:p>
          <a:p>
            <a:pPr>
              <a:defRPr sz="1300">
                <a:solidFill>
                  <a:srgbClr val="1E1E2D"/>
                </a:solidFill>
              </a:defRPr>
            </a:pPr>
            <a:r>
              <a:rPr sz="2000" dirty="0"/>
              <a:t>• Submission </a:t>
            </a:r>
            <a:r>
              <a:rPr sz="2000" dirty="0" err="1"/>
              <a:t>Github</a:t>
            </a:r>
            <a:r>
              <a:rPr sz="2000" dirty="0"/>
              <a:t> link -</a:t>
            </a:r>
            <a:r>
              <a:rPr lang="en-US" sz="2000" dirty="0">
                <a:hlinkClick r:id="rId2"/>
              </a:rPr>
              <a:t>https://github.com/Adharsh-Arvinth/agentic-code-</a:t>
            </a:r>
            <a:r>
              <a:rPr lang="en-US" sz="2000" dirty="0" err="1">
                <a:hlinkClick r:id="rId2"/>
              </a:rPr>
              <a:t>intelligence.git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A0DAD"/>
                </a:solidFill>
                <a:latin typeface="Segoe UI"/>
              </a:defRPr>
            </a:pPr>
            <a:r>
              <a:t>Theme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1E2D"/>
                </a:solidFill>
              </a:defRPr>
            </a:pPr>
            <a:r>
              <a:rPr sz="2800" dirty="0"/>
              <a:t>Theme: </a:t>
            </a:r>
            <a:r>
              <a:rPr lang="en-US" sz="2800" dirty="0"/>
              <a:t>Agentic </a:t>
            </a:r>
            <a:r>
              <a:rPr sz="2800" dirty="0"/>
              <a:t>Code Intelligence &amp; Natural Language Text-to-Code Retrieval</a:t>
            </a:r>
          </a:p>
          <a:p>
            <a:br>
              <a:rPr sz="2400" dirty="0"/>
            </a:br>
            <a:r>
              <a:rPr sz="2400" dirty="0"/>
              <a:t>• Challenge Goal: Given a natural-language query describing algorithmic intent, retrieve and rank the most relevant Python code solutions from a large corpus of 8,765 snippets.</a:t>
            </a:r>
          </a:p>
          <a:p>
            <a:br>
              <a:rPr sz="2400" dirty="0"/>
            </a:br>
            <a:r>
              <a:rPr sz="2400" dirty="0"/>
              <a:t>• Benchmark Focus: Target official </a:t>
            </a:r>
            <a:r>
              <a:rPr sz="2400" dirty="0" err="1"/>
              <a:t>CoIR</a:t>
            </a:r>
            <a:r>
              <a:rPr sz="2400" dirty="0"/>
              <a:t> </a:t>
            </a:r>
            <a:r>
              <a:rPr sz="2400" dirty="0" err="1"/>
              <a:t>AppsRetrieval</a:t>
            </a:r>
            <a:r>
              <a:rPr sz="2400" dirty="0"/>
              <a:t> benchmark evaluated on NDCG@10 and MRR@10.</a:t>
            </a:r>
          </a:p>
          <a:p>
            <a:br>
              <a:rPr sz="2400" dirty="0"/>
            </a:br>
            <a:r>
              <a:rPr sz="2400" dirty="0"/>
              <a:t>• Production Objective: Build a complete, CPU-optimized, version-aware hybrid code retrieval system ready for real-world developer tools and IDE integration.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A0DAD"/>
                </a:solidFill>
                <a:latin typeface="Segoe UI"/>
              </a:defRPr>
            </a:pPr>
            <a:r>
              <a:t>Existing Solutions &amp;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A0DAD"/>
                </a:solidFill>
              </a:defRPr>
            </a:pPr>
            <a:r>
              <a:rPr sz="2000" dirty="0"/>
              <a:t>1. Lexical-Only Search (BM25) Limitations</a:t>
            </a:r>
          </a:p>
          <a:p>
            <a:pPr>
              <a:defRPr sz="1400">
                <a:solidFill>
                  <a:srgbClr val="646473"/>
                </a:solidFill>
              </a:defRPr>
            </a:pPr>
            <a:r>
              <a:rPr sz="2000" dirty="0"/>
              <a:t>Fails when queries use conceptual natural language while solutions use domain-specific variable names or raw code syntax.</a:t>
            </a:r>
            <a:br>
              <a:rPr sz="2000" dirty="0"/>
            </a:br>
            <a:endParaRPr sz="2000" dirty="0"/>
          </a:p>
          <a:p>
            <a:pPr>
              <a:defRPr sz="1700" b="1">
                <a:solidFill>
                  <a:srgbClr val="6A0DAD"/>
                </a:solidFill>
              </a:defRPr>
            </a:pPr>
            <a:r>
              <a:rPr sz="2000" dirty="0"/>
              <a:t>2. Dense-Only Vector Search Limitations</a:t>
            </a:r>
          </a:p>
          <a:p>
            <a:pPr>
              <a:defRPr sz="1400">
                <a:solidFill>
                  <a:srgbClr val="646473"/>
                </a:solidFill>
              </a:defRPr>
            </a:pPr>
            <a:r>
              <a:rPr sz="2000" dirty="0"/>
              <a:t>Misses exact technical identifier matches, function signatures, and explicit variable/import keywords.</a:t>
            </a:r>
            <a:br>
              <a:rPr sz="2000" dirty="0"/>
            </a:br>
            <a:endParaRPr sz="2000" dirty="0"/>
          </a:p>
          <a:p>
            <a:pPr>
              <a:defRPr sz="1700" b="1">
                <a:solidFill>
                  <a:srgbClr val="6A0DAD"/>
                </a:solidFill>
              </a:defRPr>
            </a:pPr>
            <a:r>
              <a:rPr sz="2000" dirty="0"/>
              <a:t>3. High GPU Dependence of LLM </a:t>
            </a:r>
            <a:r>
              <a:rPr sz="2000" dirty="0" err="1"/>
              <a:t>Rerankers</a:t>
            </a:r>
            <a:endParaRPr sz="2000" dirty="0"/>
          </a:p>
          <a:p>
            <a:pPr>
              <a:defRPr sz="1400">
                <a:solidFill>
                  <a:srgbClr val="646473"/>
                </a:solidFill>
              </a:defRPr>
            </a:pPr>
            <a:r>
              <a:rPr sz="2000" dirty="0"/>
              <a:t>Heavy cross-encoders or generative LLM </a:t>
            </a:r>
            <a:r>
              <a:rPr sz="2000" dirty="0" err="1"/>
              <a:t>rerankers</a:t>
            </a:r>
            <a:r>
              <a:rPr sz="2000" dirty="0"/>
              <a:t> introduce extreme latency and high memory requirements on edge/CPU hardware.</a:t>
            </a:r>
            <a:br>
              <a:rPr sz="2000" dirty="0"/>
            </a:br>
            <a:endParaRPr sz="2000" dirty="0"/>
          </a:p>
          <a:p>
            <a:pPr>
              <a:defRPr sz="1700" b="1">
                <a:solidFill>
                  <a:srgbClr val="6A0DAD"/>
                </a:solidFill>
              </a:defRPr>
            </a:pPr>
            <a:r>
              <a:rPr sz="2000" dirty="0"/>
              <a:t>4. Lack of Version-Aware Retrieval</a:t>
            </a:r>
          </a:p>
          <a:p>
            <a:pPr>
              <a:defRPr sz="1400">
                <a:solidFill>
                  <a:srgbClr val="646473"/>
                </a:solidFill>
              </a:defRPr>
            </a:pPr>
            <a:r>
              <a:rPr sz="2000" dirty="0"/>
              <a:t>Standard search indexes cannot isolate, tag, or retrieve code snippets corresponding to specific code versions or release branches.</a:t>
            </a:r>
            <a:br>
              <a:rPr sz="2000" dirty="0"/>
            </a:br>
            <a:endParaRPr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A0DAD"/>
                </a:solidFill>
                <a:latin typeface="Segoe UI"/>
              </a:defRPr>
            </a:pPr>
            <a:r>
              <a:t>Our Solutions &amp; Architecture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1E2D"/>
                </a:solidFill>
              </a:defRPr>
            </a:pPr>
            <a:r>
              <a:t>Multi-Stage Hybrid Code Retrieval Pipeline (FAISS + BM25 + RRF + Cross-Encoder)</a:t>
            </a:r>
          </a:p>
          <a:p>
            <a:pPr>
              <a:defRPr sz="1100">
                <a:solidFill>
                  <a:srgbClr val="6A0DAD"/>
                </a:solidFill>
                <a:latin typeface="Consolas"/>
              </a:defRPr>
            </a:pPr>
            <a:r>
              <a:t>  ┌──────────────────────────┐</a:t>
            </a:r>
            <a:br/>
            <a:r>
              <a:t>  │ Natural Language Query   │</a:t>
            </a:r>
            <a:br/>
            <a:r>
              <a:t>  └────────────┬─────────────┘</a:t>
            </a:r>
            <a:br/>
            <a:r>
              <a:t>               ▼</a:t>
            </a:r>
            <a:br/>
            <a:r>
              <a:t>  ┌──────────────────────────┐  [Query Preprocessing]: Whitespace norm &amp; identifier extraction</a:t>
            </a:r>
            <a:br/>
            <a:r>
              <a:t>  │  Hybrid Dual-Retrieval   ├───────────────┐</a:t>
            </a:r>
            <a:br/>
            <a:r>
              <a:t>  └────────────┬─────────────┘               │</a:t>
            </a:r>
            <a:br/>
            <a:r>
              <a:t>               ▼                             ▼</a:t>
            </a:r>
            <a:br/>
            <a:r>
              <a:t>  ┌──────────────────────────┐  ┌──────────────────────────┐</a:t>
            </a:r>
            <a:br/>
            <a:r>
              <a:t>  │ Stage 1: Dense Semantic  │  │ Stage 2: Sparse BM25     │</a:t>
            </a:r>
            <a:br/>
            <a:r>
              <a:t>  │ (FAISS BAAI/bge-small)   │  │ (Code-aware Tokenizer)   │</a:t>
            </a:r>
            <a:br/>
            <a:r>
              <a:t>  └────────────┬─────────────┘  └────────────┬─────────────┘</a:t>
            </a:r>
            <a:br/>
            <a:r>
              <a:t>               └──────────────┬──────────────┘</a:t>
            </a:r>
            <a:br/>
            <a:r>
              <a:t>                              ▼</a:t>
            </a:r>
            <a:br/>
            <a:r>
              <a:t>               ┌─────────────────────────────┐  [Stage 3: Reciprocal Rank Fusion (RRF)]</a:t>
            </a:r>
            <a:br/>
            <a:r>
              <a:t>               │ Reciprocal Rank Fusion (RRF)│  Score aggregation without scale mismatch</a:t>
            </a:r>
            <a:br/>
            <a:r>
              <a:t>               └──────────────┬──────────────┘</a:t>
            </a:r>
            <a:br/>
            <a:r>
              <a:t>                              ▼</a:t>
            </a:r>
            <a:br/>
            <a:r>
              <a:t>               ┌─────────────────────────────┐  [Stage 4: Cross-Encoder Reranking]</a:t>
            </a:r>
            <a:br/>
            <a:r>
              <a:t>               │ Cross-Encoder Reranking     │  Precision refinement (ms-marco-MiniLM-L-6-v2)</a:t>
            </a:r>
            <a:br/>
            <a:r>
              <a:t>               └──────────────┬──────────────┘</a:t>
            </a:r>
            <a:br/>
            <a:r>
              <a:t>                              ▼</a:t>
            </a:r>
            <a:br/>
            <a:r>
              <a:t>               ┌─────────────────────────────┐</a:t>
            </a:r>
            <a:br/>
            <a:r>
              <a:t>               │ Top-10 Ranked Snippets      │  Relevance Scores, Doc IDs, Metadata</a:t>
            </a:r>
            <a:br/>
            <a:r>
              <a:t>               └─────────────────────────────┘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A0DAD"/>
                </a:solidFill>
                <a:latin typeface="Segoe UI"/>
              </a:defRPr>
            </a:pPr>
            <a:r>
              <a:t>Demo &amp; Product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1E2D"/>
                </a:solidFill>
              </a:defRPr>
            </a:pPr>
            <a:r>
              <a:rPr sz="1400" dirty="0"/>
              <a:t>CLI Command Execution &amp; Live Retrieval Output</a:t>
            </a:r>
            <a:br>
              <a:rPr sz="1400" dirty="0"/>
            </a:br>
            <a:br>
              <a:rPr sz="1400" dirty="0"/>
            </a:br>
            <a:r>
              <a:rPr sz="1400" dirty="0"/>
              <a:t>============================================================</a:t>
            </a:r>
            <a:br>
              <a:rPr sz="1400" dirty="0"/>
            </a:br>
            <a:r>
              <a:rPr sz="1400" dirty="0"/>
              <a:t>AGENTIC CODE INTELLIGENCE - RETRIEVAL</a:t>
            </a:r>
            <a:br>
              <a:rPr sz="1400" dirty="0"/>
            </a:br>
            <a:r>
              <a:rPr sz="1400" dirty="0"/>
              <a:t>============================================================</a:t>
            </a:r>
            <a:br>
              <a:rPr sz="1400" dirty="0"/>
            </a:br>
            <a:r>
              <a:rPr sz="1400" dirty="0"/>
              <a:t>Query: Given an integer array </a:t>
            </a:r>
            <a:r>
              <a:rPr sz="1400" dirty="0" err="1"/>
              <a:t>nums</a:t>
            </a:r>
            <a:r>
              <a:rPr sz="1400" dirty="0"/>
              <a:t>, return true if any value appears at least twice</a:t>
            </a:r>
            <a:br>
              <a:rPr sz="1400" dirty="0"/>
            </a:br>
            <a:r>
              <a:rPr sz="1400" dirty="0"/>
              <a:t>Method: hybrid (FAISS + BM25 + Cross-Encoder Reranking)</a:t>
            </a:r>
            <a:br>
              <a:rPr sz="1400" dirty="0"/>
            </a:br>
            <a:r>
              <a:rPr sz="1400" dirty="0"/>
              <a:t>Top-K: 10 | Reranking: enabled</a:t>
            </a:r>
            <a:br>
              <a:rPr sz="1400" dirty="0"/>
            </a:br>
            <a:r>
              <a:rPr sz="1400" dirty="0"/>
              <a:t>------------------------------------------------------------</a:t>
            </a:r>
            <a:br>
              <a:rPr sz="1400" dirty="0"/>
            </a:br>
            <a:r>
              <a:rPr sz="1400" dirty="0"/>
              <a:t>RESULTS (retrieved in 9.952s total / &lt; 50ms index query time)</a:t>
            </a:r>
            <a:br>
              <a:rPr sz="1400" dirty="0"/>
            </a:br>
            <a:r>
              <a:rPr sz="1400" dirty="0"/>
              <a:t>============================================================</a:t>
            </a:r>
            <a:br>
              <a:rPr sz="1400" dirty="0"/>
            </a:br>
            <a:r>
              <a:rPr sz="1400" dirty="0"/>
              <a:t>  Rank 1 | Doc: d154 | Score: 0.031099</a:t>
            </a:r>
            <a:br>
              <a:rPr sz="1400" dirty="0"/>
            </a:br>
            <a:r>
              <a:rPr sz="1400" dirty="0"/>
              <a:t>  Code preview:</a:t>
            </a:r>
            <a:br>
              <a:rPr sz="1400" dirty="0"/>
            </a:br>
            <a:r>
              <a:rPr sz="1400" dirty="0"/>
              <a:t>    class Solution:</a:t>
            </a:r>
            <a:br>
              <a:rPr sz="1400" dirty="0"/>
            </a:br>
            <a:r>
              <a:rPr sz="1400" dirty="0"/>
              <a:t>        def </a:t>
            </a:r>
            <a:r>
              <a:rPr sz="1400" dirty="0" err="1"/>
              <a:t>makesquare</a:t>
            </a:r>
            <a:r>
              <a:rPr sz="1400" dirty="0"/>
              <a:t>(self, </a:t>
            </a:r>
            <a:r>
              <a:rPr sz="1400" dirty="0" err="1"/>
              <a:t>nums</a:t>
            </a:r>
            <a:r>
              <a:rPr sz="1400" dirty="0"/>
              <a:t>):</a:t>
            </a:r>
            <a:br>
              <a:rPr sz="1400" dirty="0"/>
            </a:br>
            <a:r>
              <a:rPr sz="1400" dirty="0"/>
              <a:t>            """:type </a:t>
            </a:r>
            <a:r>
              <a:rPr sz="1400" dirty="0" err="1"/>
              <a:t>nums</a:t>
            </a:r>
            <a:r>
              <a:rPr sz="1400" dirty="0"/>
              <a:t>: List[int] :</a:t>
            </a:r>
            <a:r>
              <a:rPr sz="1400" dirty="0" err="1"/>
              <a:t>rtype</a:t>
            </a:r>
            <a:r>
              <a:rPr sz="1400" dirty="0"/>
              <a:t>: bool"""</a:t>
            </a:r>
            <a:br>
              <a:rPr sz="1400" dirty="0"/>
            </a:br>
            <a:r>
              <a:rPr sz="1400" dirty="0"/>
              <a:t>  --------------------------------------------------</a:t>
            </a:r>
            <a:br>
              <a:rPr sz="1400" dirty="0"/>
            </a:br>
            <a:r>
              <a:rPr sz="1400" dirty="0"/>
              <a:t>  Rank 2 | Doc: d195 | Score: 0.030536</a:t>
            </a:r>
            <a:br>
              <a:rPr sz="1400" dirty="0"/>
            </a:br>
            <a:r>
              <a:rPr sz="1400" dirty="0"/>
              <a:t>  Code preview:</a:t>
            </a:r>
            <a:br>
              <a:rPr sz="1400" dirty="0"/>
            </a:br>
            <a:r>
              <a:rPr sz="1400" dirty="0"/>
              <a:t>    class Solution:</a:t>
            </a:r>
            <a:br>
              <a:rPr sz="1400" dirty="0"/>
            </a:br>
            <a:r>
              <a:rPr sz="1400" dirty="0"/>
              <a:t>        def </a:t>
            </a:r>
            <a:r>
              <a:rPr sz="1400" dirty="0" err="1"/>
              <a:t>canPartitionKSubsets</a:t>
            </a:r>
            <a:r>
              <a:rPr sz="1400" dirty="0"/>
              <a:t>(self, </a:t>
            </a:r>
            <a:r>
              <a:rPr sz="1400" dirty="0" err="1"/>
              <a:t>nums</a:t>
            </a:r>
            <a:r>
              <a:rPr sz="1400" dirty="0"/>
              <a:t>, k):</a:t>
            </a:r>
            <a:br>
              <a:rPr sz="1400" dirty="0"/>
            </a:br>
            <a:r>
              <a:rPr sz="1400" dirty="0"/>
              <a:t>  --------------------------------------------------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A0DAD"/>
                </a:solidFill>
                <a:latin typeface="Segoe UI"/>
              </a:defRPr>
            </a:pPr>
            <a:r>
              <a:t>Tools and tech stack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398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A0DAD"/>
                </a:solidFill>
              </a:defRPr>
            </a:pPr>
            <a:r>
              <a:rPr sz="2300" dirty="0"/>
              <a:t>• Core Language &amp; Environment: </a:t>
            </a:r>
            <a:r>
              <a:rPr sz="2300" b="0" dirty="0">
                <a:solidFill>
                  <a:srgbClr val="1E1E2D"/>
                </a:solidFill>
              </a:rPr>
              <a:t>Python 3.10+ / </a:t>
            </a:r>
            <a:r>
              <a:rPr sz="2300" b="0" dirty="0" err="1">
                <a:solidFill>
                  <a:srgbClr val="1E1E2D"/>
                </a:solidFill>
              </a:rPr>
              <a:t>PyTorch</a:t>
            </a:r>
            <a:r>
              <a:rPr sz="2300" b="0" dirty="0">
                <a:solidFill>
                  <a:srgbClr val="1E1E2D"/>
                </a:solidFill>
              </a:rPr>
              <a:t> 2.14 / NumPy / SciPy</a:t>
            </a:r>
          </a:p>
          <a:p>
            <a:pPr>
              <a:defRPr sz="1600" b="1">
                <a:solidFill>
                  <a:srgbClr val="6A0DAD"/>
                </a:solidFill>
              </a:defRPr>
            </a:pPr>
            <a:r>
              <a:rPr sz="2300" dirty="0"/>
              <a:t>• Vector Indexing &amp; Search Engine: </a:t>
            </a:r>
            <a:r>
              <a:rPr sz="2300" b="0" dirty="0">
                <a:solidFill>
                  <a:srgbClr val="1E1E2D"/>
                </a:solidFill>
              </a:rPr>
              <a:t>FAISS (`</a:t>
            </a:r>
            <a:r>
              <a:rPr sz="2300" b="0" dirty="0" err="1">
                <a:solidFill>
                  <a:srgbClr val="1E1E2D"/>
                </a:solidFill>
              </a:rPr>
              <a:t>faiss-cpu</a:t>
            </a:r>
            <a:r>
              <a:rPr sz="2300" b="0" dirty="0">
                <a:solidFill>
                  <a:srgbClr val="1E1E2D"/>
                </a:solidFill>
              </a:rPr>
              <a:t>` 1.15) for high-performance dense vector inner-product search</a:t>
            </a:r>
          </a:p>
          <a:p>
            <a:pPr>
              <a:defRPr sz="1600" b="1">
                <a:solidFill>
                  <a:srgbClr val="6A0DAD"/>
                </a:solidFill>
              </a:defRPr>
            </a:pPr>
            <a:r>
              <a:rPr sz="2300" dirty="0"/>
              <a:t>• Dense Embedding Models: </a:t>
            </a:r>
            <a:r>
              <a:rPr sz="2300" b="0" dirty="0" err="1">
                <a:solidFill>
                  <a:srgbClr val="1E1E2D"/>
                </a:solidFill>
              </a:rPr>
              <a:t>SentenceTransformers</a:t>
            </a:r>
            <a:r>
              <a:rPr sz="2300" b="0" dirty="0">
                <a:solidFill>
                  <a:srgbClr val="1E1E2D"/>
                </a:solidFill>
              </a:rPr>
              <a:t> (`BAAI/bge-small-en-v1.5` default, `</a:t>
            </a:r>
            <a:r>
              <a:rPr sz="2300" b="0" dirty="0" err="1">
                <a:solidFill>
                  <a:srgbClr val="1E1E2D"/>
                </a:solidFill>
              </a:rPr>
              <a:t>jinaai</a:t>
            </a:r>
            <a:r>
              <a:rPr sz="2300" b="0" dirty="0">
                <a:solidFill>
                  <a:srgbClr val="1E1E2D"/>
                </a:solidFill>
              </a:rPr>
              <a:t>/jina-embeddings-v2-base-code` optional)</a:t>
            </a:r>
          </a:p>
          <a:p>
            <a:pPr>
              <a:defRPr sz="1600" b="1">
                <a:solidFill>
                  <a:srgbClr val="6A0DAD"/>
                </a:solidFill>
              </a:defRPr>
            </a:pPr>
            <a:r>
              <a:rPr sz="2300" dirty="0"/>
              <a:t>• Lexical Retrieval &amp; Tokenization: </a:t>
            </a:r>
            <a:r>
              <a:rPr sz="2300" b="0" dirty="0">
                <a:solidFill>
                  <a:srgbClr val="1E1E2D"/>
                </a:solidFill>
              </a:rPr>
              <a:t>`rank_bm25` (BM25Okapi) with regex identifier splitting for camelCase and </a:t>
            </a:r>
            <a:r>
              <a:rPr sz="2300" b="0" dirty="0" err="1">
                <a:solidFill>
                  <a:srgbClr val="1E1E2D"/>
                </a:solidFill>
              </a:rPr>
              <a:t>snake_case</a:t>
            </a:r>
            <a:endParaRPr sz="2300" b="0" dirty="0">
              <a:solidFill>
                <a:srgbClr val="1E1E2D"/>
              </a:solidFill>
            </a:endParaRPr>
          </a:p>
          <a:p>
            <a:pPr>
              <a:defRPr sz="1600" b="1">
                <a:solidFill>
                  <a:srgbClr val="6A0DAD"/>
                </a:solidFill>
              </a:defRPr>
            </a:pPr>
            <a:r>
              <a:rPr sz="2300" dirty="0"/>
              <a:t>• Cross-Encoder Reranking: </a:t>
            </a:r>
            <a:r>
              <a:rPr sz="2300" b="0" dirty="0">
                <a:solidFill>
                  <a:srgbClr val="1E1E2D"/>
                </a:solidFill>
              </a:rPr>
              <a:t>`cross-encoder/ms-marco-MiniLM-L-6-v2` for second-stage precision refinement</a:t>
            </a:r>
          </a:p>
          <a:p>
            <a:pPr>
              <a:defRPr sz="1600" b="1">
                <a:solidFill>
                  <a:srgbClr val="6A0DAD"/>
                </a:solidFill>
              </a:defRPr>
            </a:pPr>
            <a:r>
              <a:rPr sz="2300" dirty="0"/>
              <a:t>• Benchmark &amp; Evaluation Framework: </a:t>
            </a:r>
            <a:r>
              <a:rPr sz="2300" b="0" dirty="0">
                <a:solidFill>
                  <a:srgbClr val="1E1E2D"/>
                </a:solidFill>
              </a:rPr>
              <a:t>Official MTEB framework (`</a:t>
            </a:r>
            <a:r>
              <a:rPr sz="2300" b="0" dirty="0" err="1">
                <a:solidFill>
                  <a:srgbClr val="1E1E2D"/>
                </a:solidFill>
              </a:rPr>
              <a:t>mteb</a:t>
            </a:r>
            <a:r>
              <a:rPr sz="2300" b="0" dirty="0">
                <a:solidFill>
                  <a:srgbClr val="1E1E2D"/>
                </a:solidFill>
              </a:rPr>
              <a:t>` 2.21.8) &amp; </a:t>
            </a:r>
            <a:r>
              <a:rPr sz="2300" b="0" dirty="0" err="1">
                <a:solidFill>
                  <a:srgbClr val="1E1E2D"/>
                </a:solidFill>
              </a:rPr>
              <a:t>HuggingFace</a:t>
            </a:r>
            <a:r>
              <a:rPr sz="2300" b="0" dirty="0">
                <a:solidFill>
                  <a:srgbClr val="1E1E2D"/>
                </a:solidFill>
              </a:rPr>
              <a:t> `datasets`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A0DAD"/>
                </a:solidFill>
                <a:latin typeface="Segoe UI"/>
              </a:defRPr>
            </a:pPr>
            <a:r>
              <a:t>Impact &amp;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A0DAD"/>
                </a:solidFill>
              </a:defRPr>
            </a:pPr>
            <a:r>
              <a:rPr sz="2000" dirty="0"/>
              <a:t>1. Enterprise Developer Productivity</a:t>
            </a:r>
          </a:p>
          <a:p>
            <a:pPr>
              <a:defRPr sz="1400">
                <a:solidFill>
                  <a:srgbClr val="646473"/>
                </a:solidFill>
              </a:defRPr>
            </a:pPr>
            <a:r>
              <a:rPr sz="2000" dirty="0"/>
              <a:t>Enables natural-language search over multi-million-line proprietary codebases, reducing time spent searching for legacy functions.</a:t>
            </a:r>
            <a:br>
              <a:rPr sz="2000" dirty="0"/>
            </a:br>
            <a:endParaRPr sz="2000" dirty="0"/>
          </a:p>
          <a:p>
            <a:pPr>
              <a:defRPr sz="1700" b="1">
                <a:solidFill>
                  <a:srgbClr val="6A0DAD"/>
                </a:solidFill>
              </a:defRPr>
            </a:pPr>
            <a:r>
              <a:rPr sz="2000" dirty="0"/>
              <a:t>2. AI Coding Assistants &amp; Agentic Retrieval</a:t>
            </a:r>
          </a:p>
          <a:p>
            <a:pPr>
              <a:defRPr sz="1400">
                <a:solidFill>
                  <a:srgbClr val="646473"/>
                </a:solidFill>
              </a:defRPr>
            </a:pPr>
            <a:r>
              <a:rPr sz="2000" dirty="0"/>
              <a:t>Provides low-latency context retrieval for agentic coding assistants (e.g. Copilot, Gemini) to fetch relevant code context.</a:t>
            </a:r>
            <a:br>
              <a:rPr sz="2000" dirty="0"/>
            </a:br>
            <a:endParaRPr sz="2000" dirty="0"/>
          </a:p>
          <a:p>
            <a:pPr>
              <a:defRPr sz="1700" b="1">
                <a:solidFill>
                  <a:srgbClr val="6A0DAD"/>
                </a:solidFill>
              </a:defRPr>
            </a:pPr>
            <a:r>
              <a:rPr sz="2000" dirty="0"/>
              <a:t>3. Competitive Programming &amp; Education</a:t>
            </a:r>
          </a:p>
          <a:p>
            <a:pPr>
              <a:defRPr sz="1400">
                <a:solidFill>
                  <a:srgbClr val="646473"/>
                </a:solidFill>
              </a:defRPr>
            </a:pPr>
            <a:r>
              <a:rPr sz="2000" dirty="0"/>
              <a:t>Allows students and competitive programmers to query problem requirements and retrieve exact algorithmic implementations.</a:t>
            </a:r>
            <a:br>
              <a:rPr sz="2000" dirty="0"/>
            </a:br>
            <a:endParaRPr sz="2000" dirty="0"/>
          </a:p>
          <a:p>
            <a:pPr>
              <a:defRPr sz="1700" b="1">
                <a:solidFill>
                  <a:srgbClr val="6A0DAD"/>
                </a:solidFill>
              </a:defRPr>
            </a:pPr>
            <a:r>
              <a:rPr sz="2000" dirty="0"/>
              <a:t>4. Edge &amp; CPU Infrastructure Efficiency</a:t>
            </a:r>
          </a:p>
          <a:p>
            <a:pPr>
              <a:defRPr sz="1400">
                <a:solidFill>
                  <a:srgbClr val="646473"/>
                </a:solidFill>
              </a:defRPr>
            </a:pPr>
            <a:r>
              <a:rPr sz="2000" dirty="0"/>
              <a:t>Lightweight design runs entirely on standard CPUs without requiring expensive GPU server infrastructure.</a:t>
            </a:r>
            <a:br>
              <a:rPr sz="2000" dirty="0"/>
            </a:br>
            <a:endParaRPr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A0DAD"/>
                </a:solidFill>
                <a:latin typeface="Segoe UI"/>
              </a:defRPr>
            </a:pPr>
            <a:r>
              <a:t>Innovation highlights, results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A0DAD"/>
                </a:solidFill>
              </a:defRPr>
            </a:pPr>
            <a:r>
              <a:rPr sz="2400" dirty="0"/>
              <a:t>Innovation Highlights &amp; Actual Benchmark Results</a:t>
            </a:r>
          </a:p>
          <a:p>
            <a:pPr>
              <a:defRPr sz="1400">
                <a:solidFill>
                  <a:srgbClr val="1E1E2D"/>
                </a:solidFill>
              </a:defRPr>
            </a:pPr>
            <a:r>
              <a:rPr sz="2400" dirty="0"/>
              <a:t>• Innovations: Reciprocal Rank Fusion (RRF) + Code-Aware Tokenization + Version-Aware Index Management.</a:t>
            </a:r>
            <a:br>
              <a:rPr sz="2400" dirty="0"/>
            </a:br>
            <a:r>
              <a:rPr sz="2400" dirty="0"/>
              <a:t>• Official MTEB </a:t>
            </a:r>
            <a:r>
              <a:rPr sz="2400" dirty="0" err="1"/>
              <a:t>AppsRetrieval</a:t>
            </a:r>
            <a:r>
              <a:rPr sz="2400" dirty="0"/>
              <a:t> Scores: NDCG@10 = 0.0514 | MRR@10 = 0.0437 | Recall@10 = 0.0765 | MAP@10 = 0.0437</a:t>
            </a:r>
            <a:br>
              <a:rPr sz="2400" dirty="0"/>
            </a:br>
            <a:r>
              <a:rPr sz="2400" dirty="0"/>
              <a:t>• Method Comparison (Test Split): Hybrid RRF achieves NDCG@10 = 0.0718 &amp; Recall@10 = 0.1100 (outperforming Lexical 0.0163 &amp; Dense 0.0632).</a:t>
            </a:r>
            <a:br>
              <a:rPr sz="2400" dirty="0"/>
            </a:br>
            <a:r>
              <a:rPr sz="2400" dirty="0"/>
              <a:t>• Limitations: Current tokenizer rules optimized for Python syntax; multi-language AST parsing (Java/C++) is planned.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A0DAD"/>
                </a:solidFill>
                <a:latin typeface="Segoe UI"/>
              </a:defRPr>
            </a:pPr>
            <a:r>
              <a:t>What’s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A0DAD"/>
                </a:solidFill>
              </a:defRPr>
            </a:pPr>
            <a:r>
              <a:rPr sz="2000" dirty="0"/>
              <a:t>• AST-Level Graph Parsing (Tree-Sitter)</a:t>
            </a:r>
          </a:p>
          <a:p>
            <a:pPr>
              <a:defRPr sz="1400">
                <a:solidFill>
                  <a:srgbClr val="646473"/>
                </a:solidFill>
              </a:defRPr>
            </a:pPr>
            <a:r>
              <a:rPr sz="2000" dirty="0"/>
              <a:t>  Integrate Abstract Syntax Tree (AST) parsing to index code structural graphs alongside text tokens.</a:t>
            </a:r>
            <a:br>
              <a:rPr sz="2000" dirty="0"/>
            </a:br>
            <a:endParaRPr sz="2000" dirty="0"/>
          </a:p>
          <a:p>
            <a:pPr>
              <a:defRPr sz="1700" b="1">
                <a:solidFill>
                  <a:srgbClr val="6A0DAD"/>
                </a:solidFill>
              </a:defRPr>
            </a:pPr>
            <a:r>
              <a:rPr sz="2000" dirty="0"/>
              <a:t>• Multi-Language Expansion</a:t>
            </a:r>
          </a:p>
          <a:p>
            <a:pPr>
              <a:defRPr sz="1400">
                <a:solidFill>
                  <a:srgbClr val="646473"/>
                </a:solidFill>
              </a:defRPr>
            </a:pPr>
            <a:r>
              <a:rPr sz="2000" dirty="0"/>
              <a:t>  Extend specialized preprocessors for C++, Java, Rust, Go, and TypeScript syntax.</a:t>
            </a:r>
            <a:br>
              <a:rPr sz="2000" dirty="0"/>
            </a:br>
            <a:endParaRPr sz="2000" dirty="0"/>
          </a:p>
          <a:p>
            <a:pPr>
              <a:defRPr sz="1700" b="1">
                <a:solidFill>
                  <a:srgbClr val="6A0DAD"/>
                </a:solidFill>
              </a:defRPr>
            </a:pPr>
            <a:r>
              <a:rPr sz="2000" dirty="0"/>
              <a:t>• On-Device Embedding Quantization</a:t>
            </a:r>
          </a:p>
          <a:p>
            <a:pPr>
              <a:defRPr sz="1400">
                <a:solidFill>
                  <a:srgbClr val="646473"/>
                </a:solidFill>
              </a:defRPr>
            </a:pPr>
            <a:r>
              <a:rPr sz="2000" dirty="0"/>
              <a:t>  Apply INT8 quantization to vector embeddings to reduce index memory footprint by 4x for mobile/local IDE deployment.</a:t>
            </a:r>
            <a:br>
              <a:rPr sz="2000" dirty="0"/>
            </a:br>
            <a:endParaRPr sz="2000" dirty="0"/>
          </a:p>
          <a:p>
            <a:pPr>
              <a:defRPr sz="1700" b="1">
                <a:solidFill>
                  <a:srgbClr val="6A0DAD"/>
                </a:solidFill>
              </a:defRPr>
            </a:pPr>
            <a:r>
              <a:rPr sz="2000" dirty="0"/>
              <a:t>• IDE Plugins (</a:t>
            </a:r>
            <a:r>
              <a:rPr sz="2000" dirty="0" err="1"/>
              <a:t>VSCode</a:t>
            </a:r>
            <a:r>
              <a:rPr sz="2000" dirty="0"/>
              <a:t> &amp; JetBrains)</a:t>
            </a:r>
          </a:p>
          <a:p>
            <a:pPr>
              <a:defRPr sz="1400">
                <a:solidFill>
                  <a:srgbClr val="646473"/>
                </a:solidFill>
              </a:defRPr>
            </a:pPr>
            <a:r>
              <a:rPr sz="2000" dirty="0"/>
              <a:t>  Package the retrieval engine into native IDE extensions for seamless developer workflows.</a:t>
            </a:r>
            <a:br>
              <a:rPr sz="2000" dirty="0"/>
            </a:br>
            <a:endParaRPr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A0DAD"/>
                </a:solidFill>
                <a:latin typeface="Segoe UI"/>
              </a:defRPr>
            </a:pPr>
            <a:r>
              <a:t>Brownie points slide( differentiation)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A0DAD"/>
                </a:solidFill>
              </a:defRPr>
            </a:pPr>
            <a:r>
              <a:rPr sz="2000" dirty="0"/>
              <a:t>1. Zero-GPU Hardware Requirement</a:t>
            </a:r>
          </a:p>
          <a:p>
            <a:pPr>
              <a:defRPr sz="1400">
                <a:solidFill>
                  <a:srgbClr val="646473"/>
                </a:solidFill>
              </a:defRPr>
            </a:pPr>
            <a:r>
              <a:rPr sz="2000" dirty="0"/>
              <a:t>The entire retrieval, indexing, and ranking pipeline runs on standard CPU hardware with zero CUDA dependency.</a:t>
            </a:r>
            <a:br>
              <a:rPr sz="2000" dirty="0"/>
            </a:br>
            <a:endParaRPr sz="2000" dirty="0"/>
          </a:p>
          <a:p>
            <a:pPr>
              <a:defRPr sz="1700" b="1">
                <a:solidFill>
                  <a:srgbClr val="6A0DAD"/>
                </a:solidFill>
              </a:defRPr>
            </a:pPr>
            <a:r>
              <a:rPr sz="2000" dirty="0"/>
              <a:t>2. Version-Aware Index Management (P1 Goal)</a:t>
            </a:r>
          </a:p>
          <a:p>
            <a:pPr>
              <a:defRPr sz="1400">
                <a:solidFill>
                  <a:srgbClr val="646473"/>
                </a:solidFill>
              </a:defRPr>
            </a:pPr>
            <a:r>
              <a:rPr sz="2000" dirty="0"/>
              <a:t>Built-in support for registering, indexing, isolating, and searching specific code version tags (`--version v1.0`).</a:t>
            </a:r>
            <a:br>
              <a:rPr sz="2000" dirty="0"/>
            </a:br>
            <a:endParaRPr sz="2000" dirty="0"/>
          </a:p>
          <a:p>
            <a:pPr>
              <a:defRPr sz="1700" b="1">
                <a:solidFill>
                  <a:srgbClr val="6A0DAD"/>
                </a:solidFill>
              </a:defRPr>
            </a:pPr>
            <a:r>
              <a:rPr sz="2000" dirty="0"/>
              <a:t>3. Official MTEB Framework Compliance</a:t>
            </a:r>
          </a:p>
          <a:p>
            <a:pPr>
              <a:defRPr sz="1400">
                <a:solidFill>
                  <a:srgbClr val="646473"/>
                </a:solidFill>
              </a:defRPr>
            </a:pPr>
            <a:r>
              <a:rPr sz="2000" dirty="0"/>
              <a:t>100% compliant with MTEB 2.x evaluation standards with automatic JSON results generation.</a:t>
            </a:r>
            <a:br>
              <a:rPr sz="2000" dirty="0"/>
            </a:br>
            <a:endParaRPr sz="2000" dirty="0"/>
          </a:p>
          <a:p>
            <a:pPr>
              <a:defRPr sz="1700" b="1">
                <a:solidFill>
                  <a:srgbClr val="6A0DAD"/>
                </a:solidFill>
              </a:defRPr>
            </a:pPr>
            <a:r>
              <a:rPr sz="2000" dirty="0"/>
              <a:t>4. Comprehensive Unit Test Suite</a:t>
            </a:r>
          </a:p>
          <a:p>
            <a:pPr>
              <a:defRPr sz="1400">
                <a:solidFill>
                  <a:srgbClr val="646473"/>
                </a:solidFill>
              </a:defRPr>
            </a:pPr>
            <a:r>
              <a:rPr sz="2000" dirty="0"/>
              <a:t>42 automated </a:t>
            </a:r>
            <a:r>
              <a:rPr sz="2000" dirty="0" err="1"/>
              <a:t>pytest</a:t>
            </a:r>
            <a:r>
              <a:rPr sz="2000" dirty="0"/>
              <a:t> test cases covering metrics, preprocessors, retrievers, and versioning with 100% pass rate.</a:t>
            </a:r>
            <a:br>
              <a:rPr sz="2000" dirty="0"/>
            </a:br>
            <a:endParaRPr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A0DAD"/>
                </a:solidFill>
                <a:latin typeface="Segoe UI"/>
              </a:defRPr>
            </a:pPr>
            <a:r>
              <a:t>Checklist- Updated on Public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1E2D"/>
                </a:solidFill>
              </a:defRPr>
            </a:pPr>
            <a:r>
              <a:rPr dirty="0"/>
              <a:t>• Working prototype code — public or shared GitHub repo (Y/N): YES (</a:t>
            </a:r>
            <a:r>
              <a:rPr dirty="0">
                <a:hlinkClick r:id="rId2"/>
              </a:rPr>
              <a:t>https://github.com/Adharsh-Arvinth/agentic-code-intelligence.git</a:t>
            </a:r>
            <a:r>
              <a:rPr dirty="0"/>
              <a:t>)</a:t>
            </a:r>
            <a:br>
              <a:rPr dirty="0"/>
            </a:br>
            <a:endParaRPr dirty="0"/>
          </a:p>
          <a:p>
            <a:pPr>
              <a:defRPr sz="1600" b="1">
                <a:solidFill>
                  <a:srgbClr val="1E1E2D"/>
                </a:solidFill>
              </a:defRPr>
            </a:pPr>
            <a:r>
              <a:rPr dirty="0"/>
              <a:t>• README with reproducible setup instructions (Y/N): YES (Complete setup, CLI usage, &amp; benchmark reproduction steps)</a:t>
            </a:r>
            <a:br>
              <a:rPr dirty="0"/>
            </a:br>
            <a:endParaRPr dirty="0"/>
          </a:p>
          <a:p>
            <a:pPr>
              <a:defRPr sz="1600" b="1">
                <a:solidFill>
                  <a:srgbClr val="1E1E2D"/>
                </a:solidFill>
              </a:defRPr>
            </a:pPr>
            <a:r>
              <a:rPr dirty="0"/>
              <a:t>• Demo video, max 5 minutes (YouTube or Drive link): [To be added by team]</a:t>
            </a:r>
            <a:br>
              <a:rPr dirty="0"/>
            </a:br>
            <a:endParaRPr dirty="0"/>
          </a:p>
          <a:p>
            <a:pPr>
              <a:defRPr sz="1600" b="1">
                <a:solidFill>
                  <a:srgbClr val="1E1E2D"/>
                </a:solidFill>
              </a:defRPr>
            </a:pPr>
            <a:r>
              <a:rPr dirty="0"/>
              <a:t>• Presentation file (PPT or PDF) (Y/N): YES (This presentation deck)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1E1E2D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473"/>
                </a:solidFill>
              </a:defRPr>
            </a:pPr>
            <a:r>
              <a:t>Organised by the Language AI Team and the PRISM Team, Samsung R&amp;D Institute 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1294</Words>
  <Application>Microsoft Office PowerPoint</Application>
  <PresentationFormat>Widescreen</PresentationFormat>
  <Paragraphs>73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Adharsh Arvinth</cp:lastModifiedBy>
  <cp:revision>4</cp:revision>
  <dcterms:created xsi:type="dcterms:W3CDTF">2013-01-27T09:14:16Z</dcterms:created>
  <dcterms:modified xsi:type="dcterms:W3CDTF">2026-09-27T17:44:38Z</dcterms:modified>
  <cp:category/>
</cp:coreProperties>
</file>